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AN Headline" charset="1" panose="00000000000000000000"/>
      <p:regular r:id="rId15"/>
    </p:embeddedFont>
    <p:embeddedFont>
      <p:font typeface="Times New Roman MT Bold" charset="1" panose="02030802070405020303"/>
      <p:regular r:id="rId16"/>
    </p:embeddedFont>
    <p:embeddedFont>
      <p:font typeface="Times New Roman MT" charset="1" panose="020305020704050203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22.png" Type="http://schemas.openxmlformats.org/officeDocument/2006/relationships/image"/><Relationship Id="rId16" Target="../media/image23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13" Target="../media/image28.png" Type="http://schemas.openxmlformats.org/officeDocument/2006/relationships/image"/><Relationship Id="rId14" Target="../media/image29.svg" Type="http://schemas.openxmlformats.org/officeDocument/2006/relationships/image"/><Relationship Id="rId15" Target="../media/image12.png" Type="http://schemas.openxmlformats.org/officeDocument/2006/relationships/image"/><Relationship Id="rId16" Target="../media/image13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15" Target="../media/image36.png" Type="http://schemas.openxmlformats.org/officeDocument/2006/relationships/image"/><Relationship Id="rId16" Target="../media/image3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4.png" Type="http://schemas.openxmlformats.org/officeDocument/2006/relationships/image"/><Relationship Id="rId14" Target="../media/image5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8.png" Type="http://schemas.openxmlformats.org/officeDocument/2006/relationships/image"/><Relationship Id="rId14" Target="../media/image9.svg" Type="http://schemas.openxmlformats.org/officeDocument/2006/relationships/image"/><Relationship Id="rId15" Target="../media/image6.png" Type="http://schemas.openxmlformats.org/officeDocument/2006/relationships/image"/><Relationship Id="rId16" Target="../media/image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svg" Type="http://schemas.openxmlformats.org/officeDocument/2006/relationships/image"/><Relationship Id="rId11" Target="../media/image4.png" Type="http://schemas.openxmlformats.org/officeDocument/2006/relationships/image"/><Relationship Id="rId12" Target="../media/image5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10.png" Type="http://schemas.openxmlformats.org/officeDocument/2006/relationships/image"/><Relationship Id="rId14" Target="../media/image11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6.png" Type="http://schemas.openxmlformats.org/officeDocument/2006/relationships/image"/><Relationship Id="rId16" Target="../media/image1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111" r="0" b="-21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8642839" y="-2871284"/>
            <a:ext cx="11367124" cy="10519756"/>
          </a:xfrm>
          <a:custGeom>
            <a:avLst/>
            <a:gdLst/>
            <a:ahLst/>
            <a:cxnLst/>
            <a:rect r="r" b="b" t="t" l="l"/>
            <a:pathLst>
              <a:path h="10519756" w="11367124">
                <a:moveTo>
                  <a:pt x="0" y="10519757"/>
                </a:moveTo>
                <a:lnTo>
                  <a:pt x="11367124" y="10519757"/>
                </a:lnTo>
                <a:lnTo>
                  <a:pt x="11367124" y="0"/>
                </a:lnTo>
                <a:lnTo>
                  <a:pt x="0" y="0"/>
                </a:lnTo>
                <a:lnTo>
                  <a:pt x="0" y="1051975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17011" y="5300619"/>
            <a:ext cx="5657328" cy="5657328"/>
          </a:xfrm>
          <a:custGeom>
            <a:avLst/>
            <a:gdLst/>
            <a:ahLst/>
            <a:cxnLst/>
            <a:rect r="r" b="b" t="t" l="l"/>
            <a:pathLst>
              <a:path h="5657328" w="5657328">
                <a:moveTo>
                  <a:pt x="0" y="0"/>
                </a:moveTo>
                <a:lnTo>
                  <a:pt x="5657328" y="0"/>
                </a:lnTo>
                <a:lnTo>
                  <a:pt x="5657328" y="5657328"/>
                </a:lnTo>
                <a:lnTo>
                  <a:pt x="0" y="56573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107482" y="2388595"/>
            <a:ext cx="11367124" cy="10519756"/>
          </a:xfrm>
          <a:custGeom>
            <a:avLst/>
            <a:gdLst/>
            <a:ahLst/>
            <a:cxnLst/>
            <a:rect r="r" b="b" t="t" l="l"/>
            <a:pathLst>
              <a:path h="10519756" w="11367124">
                <a:moveTo>
                  <a:pt x="11367123" y="0"/>
                </a:moveTo>
                <a:lnTo>
                  <a:pt x="0" y="0"/>
                </a:lnTo>
                <a:lnTo>
                  <a:pt x="0" y="10519756"/>
                </a:lnTo>
                <a:lnTo>
                  <a:pt x="11367123" y="10519756"/>
                </a:lnTo>
                <a:lnTo>
                  <a:pt x="1136712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49485" y="-1199154"/>
            <a:ext cx="5300619" cy="5300619"/>
          </a:xfrm>
          <a:custGeom>
            <a:avLst/>
            <a:gdLst/>
            <a:ahLst/>
            <a:cxnLst/>
            <a:rect r="r" b="b" t="t" l="l"/>
            <a:pathLst>
              <a:path h="5300619" w="5300619">
                <a:moveTo>
                  <a:pt x="0" y="0"/>
                </a:moveTo>
                <a:lnTo>
                  <a:pt x="5300619" y="0"/>
                </a:lnTo>
                <a:lnTo>
                  <a:pt x="5300619" y="5300619"/>
                </a:lnTo>
                <a:lnTo>
                  <a:pt x="0" y="53006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47401">
            <a:off x="1028700" y="1028700"/>
            <a:ext cx="16230600" cy="8229600"/>
            <a:chOff x="0" y="0"/>
            <a:chExt cx="21640800" cy="109728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1640800" cy="10972800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137363" y="0"/>
                    </a:moveTo>
                    <a:cubicBezTo>
                      <a:pt x="956930" y="0"/>
                      <a:pt x="0" y="485204"/>
                      <a:pt x="0" y="1083733"/>
                    </a:cubicBezTo>
                    <a:cubicBezTo>
                      <a:pt x="0" y="1682263"/>
                      <a:pt x="956930" y="2167467"/>
                      <a:pt x="2137363" y="2167467"/>
                    </a:cubicBezTo>
                    <a:cubicBezTo>
                      <a:pt x="3317796" y="2167467"/>
                      <a:pt x="4274726" y="1682263"/>
                      <a:pt x="4274726" y="1083733"/>
                    </a:cubicBezTo>
                    <a:cubicBezTo>
                      <a:pt x="4274726" y="485204"/>
                      <a:pt x="3317796" y="0"/>
                      <a:pt x="2137363" y="0"/>
                    </a:cubicBezTo>
                    <a:close/>
                  </a:path>
                </a:pathLst>
              </a:custGeom>
              <a:solidFill>
                <a:srgbClr val="FFF9E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400756" y="165100"/>
                <a:ext cx="3473215" cy="17991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79197" y="201353"/>
              <a:ext cx="21308043" cy="10570095"/>
              <a:chOff x="0" y="0"/>
              <a:chExt cx="4369353" cy="216746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369353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369353">
                    <a:moveTo>
                      <a:pt x="2184677" y="0"/>
                    </a:moveTo>
                    <a:cubicBezTo>
                      <a:pt x="978113" y="0"/>
                      <a:pt x="0" y="485204"/>
                      <a:pt x="0" y="1083733"/>
                    </a:cubicBezTo>
                    <a:cubicBezTo>
                      <a:pt x="0" y="1682263"/>
                      <a:pt x="978113" y="2167467"/>
                      <a:pt x="2184677" y="2167467"/>
                    </a:cubicBezTo>
                    <a:cubicBezTo>
                      <a:pt x="3391240" y="2167467"/>
                      <a:pt x="4369353" y="1682263"/>
                      <a:pt x="4369353" y="1083733"/>
                    </a:cubicBezTo>
                    <a:cubicBezTo>
                      <a:pt x="4369353" y="485204"/>
                      <a:pt x="3391240" y="0"/>
                      <a:pt x="2184677" y="0"/>
                    </a:cubicBezTo>
                    <a:close/>
                  </a:path>
                </a:pathLst>
              </a:custGeom>
              <a:ln w="19050" cap="sq">
                <a:solidFill>
                  <a:srgbClr val="4C3F1F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409627" y="165100"/>
                <a:ext cx="3550099" cy="17991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4" id="14"/>
          <p:cNvSpPr txBox="true"/>
          <p:nvPr/>
        </p:nvSpPr>
        <p:spPr>
          <a:xfrm rot="0">
            <a:off x="1595341" y="3824260"/>
            <a:ext cx="15097318" cy="254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1"/>
              </a:lnSpc>
            </a:pPr>
            <a:r>
              <a:rPr lang="en-US" sz="4872" spc="-272">
                <a:solidFill>
                  <a:srgbClr val="4C3F1F"/>
                </a:solidFill>
                <a:latin typeface="TAN Headline"/>
                <a:ea typeface="TAN Headline"/>
                <a:cs typeface="TAN Headline"/>
                <a:sym typeface="TAN Headline"/>
              </a:rPr>
              <a:t>PLATAFORMA DE GESTIÓN PARA </a:t>
            </a:r>
          </a:p>
          <a:p>
            <a:pPr algn="ctr">
              <a:lnSpc>
                <a:spcPts val="6821"/>
              </a:lnSpc>
            </a:pPr>
            <a:r>
              <a:rPr lang="en-US" sz="4872" spc="-272">
                <a:solidFill>
                  <a:srgbClr val="4C3F1F"/>
                </a:solidFill>
                <a:latin typeface="TAN Headline"/>
                <a:ea typeface="TAN Headline"/>
                <a:cs typeface="TAN Headline"/>
                <a:sym typeface="TAN Headline"/>
              </a:rPr>
              <a:t>TALLERES DE CANTO </a:t>
            </a:r>
          </a:p>
          <a:p>
            <a:pPr algn="ctr">
              <a:lnSpc>
                <a:spcPts val="6821"/>
              </a:lnSpc>
            </a:pPr>
            <a:r>
              <a:rPr lang="en-US" sz="4872" spc="-272">
                <a:solidFill>
                  <a:srgbClr val="4C3F1F"/>
                </a:solidFill>
                <a:latin typeface="TAN Headline"/>
                <a:ea typeface="TAN Headline"/>
                <a:cs typeface="TAN Headline"/>
                <a:sym typeface="TAN Headline"/>
              </a:rPr>
              <a:t>INDEPENDIENTES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087993" y="6344149"/>
            <a:ext cx="6791463" cy="6791463"/>
          </a:xfrm>
          <a:custGeom>
            <a:avLst/>
            <a:gdLst/>
            <a:ahLst/>
            <a:cxnLst/>
            <a:rect r="r" b="b" t="t" l="l"/>
            <a:pathLst>
              <a:path h="6791463" w="6791463">
                <a:moveTo>
                  <a:pt x="0" y="0"/>
                </a:moveTo>
                <a:lnTo>
                  <a:pt x="6791464" y="0"/>
                </a:lnTo>
                <a:lnTo>
                  <a:pt x="6791464" y="6791464"/>
                </a:lnTo>
                <a:lnTo>
                  <a:pt x="0" y="67914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405148">
            <a:off x="-1367585" y="-2308322"/>
            <a:ext cx="7158475" cy="5089025"/>
          </a:xfrm>
          <a:custGeom>
            <a:avLst/>
            <a:gdLst/>
            <a:ahLst/>
            <a:cxnLst/>
            <a:rect r="r" b="b" t="t" l="l"/>
            <a:pathLst>
              <a:path h="5089025" w="7158475">
                <a:moveTo>
                  <a:pt x="0" y="0"/>
                </a:moveTo>
                <a:lnTo>
                  <a:pt x="7158475" y="0"/>
                </a:lnTo>
                <a:lnTo>
                  <a:pt x="7158475" y="5089025"/>
                </a:lnTo>
                <a:lnTo>
                  <a:pt x="0" y="50890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498070" y="1706101"/>
            <a:ext cx="3291859" cy="1077336"/>
          </a:xfrm>
          <a:custGeom>
            <a:avLst/>
            <a:gdLst/>
            <a:ahLst/>
            <a:cxnLst/>
            <a:rect r="r" b="b" t="t" l="l"/>
            <a:pathLst>
              <a:path h="1077336" w="3291859">
                <a:moveTo>
                  <a:pt x="0" y="0"/>
                </a:moveTo>
                <a:lnTo>
                  <a:pt x="3291860" y="0"/>
                </a:lnTo>
                <a:lnTo>
                  <a:pt x="3291860" y="1077336"/>
                </a:lnTo>
                <a:lnTo>
                  <a:pt x="0" y="10773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86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965910" y="1273065"/>
            <a:ext cx="356181" cy="356181"/>
          </a:xfrm>
          <a:custGeom>
            <a:avLst/>
            <a:gdLst/>
            <a:ahLst/>
            <a:cxnLst/>
            <a:rect r="r" b="b" t="t" l="l"/>
            <a:pathLst>
              <a:path h="356181" w="356181">
                <a:moveTo>
                  <a:pt x="0" y="0"/>
                </a:moveTo>
                <a:lnTo>
                  <a:pt x="356180" y="0"/>
                </a:lnTo>
                <a:lnTo>
                  <a:pt x="356180" y="356181"/>
                </a:lnTo>
                <a:lnTo>
                  <a:pt x="0" y="35618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505617" y="3521848"/>
            <a:ext cx="1014874" cy="1101605"/>
          </a:xfrm>
          <a:custGeom>
            <a:avLst/>
            <a:gdLst/>
            <a:ahLst/>
            <a:cxnLst/>
            <a:rect r="r" b="b" t="t" l="l"/>
            <a:pathLst>
              <a:path h="1101605" w="1014874">
                <a:moveTo>
                  <a:pt x="0" y="0"/>
                </a:moveTo>
                <a:lnTo>
                  <a:pt x="1014874" y="0"/>
                </a:lnTo>
                <a:lnTo>
                  <a:pt x="1014874" y="1101605"/>
                </a:lnTo>
                <a:lnTo>
                  <a:pt x="0" y="110160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81736" y="5451384"/>
            <a:ext cx="929113" cy="1008515"/>
          </a:xfrm>
          <a:custGeom>
            <a:avLst/>
            <a:gdLst/>
            <a:ahLst/>
            <a:cxnLst/>
            <a:rect r="r" b="b" t="t" l="l"/>
            <a:pathLst>
              <a:path h="1008515" w="929113">
                <a:moveTo>
                  <a:pt x="0" y="0"/>
                </a:moveTo>
                <a:lnTo>
                  <a:pt x="929113" y="0"/>
                </a:lnTo>
                <a:lnTo>
                  <a:pt x="929113" y="1008515"/>
                </a:lnTo>
                <a:lnTo>
                  <a:pt x="0" y="100851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535295" y="1943858"/>
            <a:ext cx="5217411" cy="53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8"/>
              </a:lnSpc>
            </a:pPr>
            <a:r>
              <a:rPr lang="en-US" sz="3084" spc="-172">
                <a:solidFill>
                  <a:srgbClr val="4C3F1F"/>
                </a:solidFill>
                <a:latin typeface="TAN Headline"/>
                <a:ea typeface="TAN Headline"/>
                <a:cs typeface="TAN Headline"/>
                <a:sym typeface="TAN Headline"/>
              </a:rPr>
              <a:t>PROYECTO SEMESTRAL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36704" y="7667523"/>
            <a:ext cx="7414592" cy="50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true">
                <a:solidFill>
                  <a:srgbClr val="4C3F1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PTY4614 - Capstone || José Soto || DuocUC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111" r="0" b="-21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21989" y="2266830"/>
            <a:ext cx="11367124" cy="10519756"/>
          </a:xfrm>
          <a:custGeom>
            <a:avLst/>
            <a:gdLst/>
            <a:ahLst/>
            <a:cxnLst/>
            <a:rect r="r" b="b" t="t" l="l"/>
            <a:pathLst>
              <a:path h="10519756" w="11367124">
                <a:moveTo>
                  <a:pt x="0" y="0"/>
                </a:moveTo>
                <a:lnTo>
                  <a:pt x="11367123" y="0"/>
                </a:lnTo>
                <a:lnTo>
                  <a:pt x="11367123" y="10519756"/>
                </a:lnTo>
                <a:lnTo>
                  <a:pt x="0" y="10519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965102" y="-2428049"/>
            <a:ext cx="11367124" cy="10519756"/>
          </a:xfrm>
          <a:custGeom>
            <a:avLst/>
            <a:gdLst/>
            <a:ahLst/>
            <a:cxnLst/>
            <a:rect r="r" b="b" t="t" l="l"/>
            <a:pathLst>
              <a:path h="10519756" w="11367124">
                <a:moveTo>
                  <a:pt x="11367123" y="10519756"/>
                </a:moveTo>
                <a:lnTo>
                  <a:pt x="0" y="10519756"/>
                </a:lnTo>
                <a:lnTo>
                  <a:pt x="0" y="0"/>
                </a:lnTo>
                <a:lnTo>
                  <a:pt x="11367123" y="0"/>
                </a:lnTo>
                <a:lnTo>
                  <a:pt x="11367123" y="1051975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986706" y="-2353855"/>
            <a:ext cx="6765109" cy="6765109"/>
          </a:xfrm>
          <a:custGeom>
            <a:avLst/>
            <a:gdLst/>
            <a:ahLst/>
            <a:cxnLst/>
            <a:rect r="r" b="b" t="t" l="l"/>
            <a:pathLst>
              <a:path h="6765109" w="6765109">
                <a:moveTo>
                  <a:pt x="0" y="0"/>
                </a:moveTo>
                <a:lnTo>
                  <a:pt x="6765110" y="0"/>
                </a:lnTo>
                <a:lnTo>
                  <a:pt x="6765110" y="6765110"/>
                </a:lnTo>
                <a:lnTo>
                  <a:pt x="0" y="6765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15058" y="1028700"/>
            <a:ext cx="12818720" cy="8229600"/>
            <a:chOff x="0" y="0"/>
            <a:chExt cx="17091627" cy="109728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7091627" cy="10972800"/>
              <a:chOff x="0" y="0"/>
              <a:chExt cx="3376124" cy="216746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376124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3376124">
                    <a:moveTo>
                      <a:pt x="30198" y="0"/>
                    </a:moveTo>
                    <a:lnTo>
                      <a:pt x="3345926" y="0"/>
                    </a:lnTo>
                    <a:cubicBezTo>
                      <a:pt x="3362604" y="0"/>
                      <a:pt x="3376124" y="13520"/>
                      <a:pt x="3376124" y="30198"/>
                    </a:cubicBezTo>
                    <a:lnTo>
                      <a:pt x="3376124" y="2137269"/>
                    </a:lnTo>
                    <a:cubicBezTo>
                      <a:pt x="3376124" y="2145278"/>
                      <a:pt x="3372942" y="2152959"/>
                      <a:pt x="3367279" y="2158622"/>
                    </a:cubicBezTo>
                    <a:cubicBezTo>
                      <a:pt x="3361616" y="2164285"/>
                      <a:pt x="3353935" y="2167467"/>
                      <a:pt x="3345926" y="2167467"/>
                    </a:cubicBezTo>
                    <a:lnTo>
                      <a:pt x="30198" y="2167467"/>
                    </a:lnTo>
                    <a:cubicBezTo>
                      <a:pt x="22189" y="2167467"/>
                      <a:pt x="14508" y="2164285"/>
                      <a:pt x="8845" y="2158622"/>
                    </a:cubicBezTo>
                    <a:cubicBezTo>
                      <a:pt x="3182" y="2152959"/>
                      <a:pt x="0" y="2145278"/>
                      <a:pt x="0" y="2137269"/>
                    </a:cubicBezTo>
                    <a:lnTo>
                      <a:pt x="0" y="30198"/>
                    </a:lnTo>
                    <a:cubicBezTo>
                      <a:pt x="0" y="22189"/>
                      <a:pt x="3182" y="14508"/>
                      <a:pt x="8845" y="8845"/>
                    </a:cubicBezTo>
                    <a:cubicBezTo>
                      <a:pt x="14508" y="3182"/>
                      <a:pt x="22189" y="0"/>
                      <a:pt x="30198" y="0"/>
                    </a:cubicBezTo>
                    <a:close/>
                  </a:path>
                </a:pathLst>
              </a:custGeom>
              <a:solidFill>
                <a:srgbClr val="FFF9E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95250"/>
                <a:ext cx="3376124" cy="2262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3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26356" y="141464"/>
              <a:ext cx="16838914" cy="10689872"/>
              <a:chOff x="0" y="0"/>
              <a:chExt cx="3326205" cy="211158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326205" cy="2111580"/>
              </a:xfrm>
              <a:custGeom>
                <a:avLst/>
                <a:gdLst/>
                <a:ahLst/>
                <a:cxnLst/>
                <a:rect r="r" b="b" t="t" l="l"/>
                <a:pathLst>
                  <a:path h="2111580" w="3326205">
                    <a:moveTo>
                      <a:pt x="30651" y="0"/>
                    </a:moveTo>
                    <a:lnTo>
                      <a:pt x="3295555" y="0"/>
                    </a:lnTo>
                    <a:cubicBezTo>
                      <a:pt x="3312483" y="0"/>
                      <a:pt x="3326205" y="13723"/>
                      <a:pt x="3326205" y="30651"/>
                    </a:cubicBezTo>
                    <a:lnTo>
                      <a:pt x="3326205" y="2080929"/>
                    </a:lnTo>
                    <a:cubicBezTo>
                      <a:pt x="3326205" y="2089058"/>
                      <a:pt x="3322976" y="2096854"/>
                      <a:pt x="3317228" y="2102602"/>
                    </a:cubicBezTo>
                    <a:cubicBezTo>
                      <a:pt x="3311480" y="2108350"/>
                      <a:pt x="3303684" y="2111580"/>
                      <a:pt x="3295555" y="2111580"/>
                    </a:cubicBezTo>
                    <a:lnTo>
                      <a:pt x="30651" y="2111580"/>
                    </a:lnTo>
                    <a:cubicBezTo>
                      <a:pt x="22522" y="2111580"/>
                      <a:pt x="14726" y="2108350"/>
                      <a:pt x="8977" y="2102602"/>
                    </a:cubicBezTo>
                    <a:cubicBezTo>
                      <a:pt x="3229" y="2096854"/>
                      <a:pt x="0" y="2089058"/>
                      <a:pt x="0" y="2080929"/>
                    </a:cubicBezTo>
                    <a:lnTo>
                      <a:pt x="0" y="30651"/>
                    </a:lnTo>
                    <a:cubicBezTo>
                      <a:pt x="0" y="22522"/>
                      <a:pt x="3229" y="14726"/>
                      <a:pt x="8977" y="8977"/>
                    </a:cubicBezTo>
                    <a:cubicBezTo>
                      <a:pt x="14726" y="3229"/>
                      <a:pt x="22522" y="0"/>
                      <a:pt x="30651" y="0"/>
                    </a:cubicBezTo>
                    <a:close/>
                  </a:path>
                </a:pathLst>
              </a:custGeom>
              <a:ln w="19050" cap="rnd">
                <a:solidFill>
                  <a:srgbClr val="4C3F1F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0"/>
                <a:ext cx="3326205" cy="2206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3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4518371" y="4102660"/>
            <a:ext cx="9251257" cy="4275607"/>
            <a:chOff x="0" y="0"/>
            <a:chExt cx="2436545" cy="11260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6545" cy="1126086"/>
            </a:xfrm>
            <a:custGeom>
              <a:avLst/>
              <a:gdLst/>
              <a:ahLst/>
              <a:cxnLst/>
              <a:rect r="r" b="b" t="t" l="l"/>
              <a:pathLst>
                <a:path h="1126086" w="2436545">
                  <a:moveTo>
                    <a:pt x="27616" y="0"/>
                  </a:moveTo>
                  <a:lnTo>
                    <a:pt x="2408929" y="0"/>
                  </a:lnTo>
                  <a:cubicBezTo>
                    <a:pt x="2424181" y="0"/>
                    <a:pt x="2436545" y="12364"/>
                    <a:pt x="2436545" y="27616"/>
                  </a:cubicBezTo>
                  <a:lnTo>
                    <a:pt x="2436545" y="1098470"/>
                  </a:lnTo>
                  <a:cubicBezTo>
                    <a:pt x="2436545" y="1113722"/>
                    <a:pt x="2424181" y="1126086"/>
                    <a:pt x="2408929" y="1126086"/>
                  </a:cubicBezTo>
                  <a:lnTo>
                    <a:pt x="27616" y="1126086"/>
                  </a:lnTo>
                  <a:cubicBezTo>
                    <a:pt x="12364" y="1126086"/>
                    <a:pt x="0" y="1113722"/>
                    <a:pt x="0" y="1098470"/>
                  </a:cubicBezTo>
                  <a:lnTo>
                    <a:pt x="0" y="27616"/>
                  </a:lnTo>
                  <a:cubicBezTo>
                    <a:pt x="0" y="12364"/>
                    <a:pt x="12364" y="0"/>
                    <a:pt x="27616" y="0"/>
                  </a:cubicBezTo>
                  <a:close/>
                </a:path>
              </a:pathLst>
            </a:custGeom>
            <a:solidFill>
              <a:srgbClr val="4C3F1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2436545" cy="1221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3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273169" y="2831829"/>
            <a:ext cx="583497" cy="633363"/>
          </a:xfrm>
          <a:custGeom>
            <a:avLst/>
            <a:gdLst/>
            <a:ahLst/>
            <a:cxnLst/>
            <a:rect r="r" b="b" t="t" l="l"/>
            <a:pathLst>
              <a:path h="633363" w="583497">
                <a:moveTo>
                  <a:pt x="0" y="0"/>
                </a:moveTo>
                <a:lnTo>
                  <a:pt x="583497" y="0"/>
                </a:lnTo>
                <a:lnTo>
                  <a:pt x="583497" y="633363"/>
                </a:lnTo>
                <a:lnTo>
                  <a:pt x="0" y="633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305550" y="2831829"/>
            <a:ext cx="583497" cy="633363"/>
          </a:xfrm>
          <a:custGeom>
            <a:avLst/>
            <a:gdLst/>
            <a:ahLst/>
            <a:cxnLst/>
            <a:rect r="r" b="b" t="t" l="l"/>
            <a:pathLst>
              <a:path h="633363" w="583497">
                <a:moveTo>
                  <a:pt x="0" y="0"/>
                </a:moveTo>
                <a:lnTo>
                  <a:pt x="583498" y="0"/>
                </a:lnTo>
                <a:lnTo>
                  <a:pt x="583498" y="633363"/>
                </a:lnTo>
                <a:lnTo>
                  <a:pt x="0" y="633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2485505" y="7162595"/>
            <a:ext cx="7775668" cy="6248810"/>
          </a:xfrm>
          <a:custGeom>
            <a:avLst/>
            <a:gdLst/>
            <a:ahLst/>
            <a:cxnLst/>
            <a:rect r="r" b="b" t="t" l="l"/>
            <a:pathLst>
              <a:path h="6248810" w="7775668">
                <a:moveTo>
                  <a:pt x="0" y="0"/>
                </a:moveTo>
                <a:lnTo>
                  <a:pt x="7775668" y="0"/>
                </a:lnTo>
                <a:lnTo>
                  <a:pt x="7775668" y="6248810"/>
                </a:lnTo>
                <a:lnTo>
                  <a:pt x="0" y="62488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767153" y="716259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877796" y="2609843"/>
            <a:ext cx="3291859" cy="1077336"/>
          </a:xfrm>
          <a:custGeom>
            <a:avLst/>
            <a:gdLst/>
            <a:ahLst/>
            <a:cxnLst/>
            <a:rect r="r" b="b" t="t" l="l"/>
            <a:pathLst>
              <a:path h="1077336" w="3291859">
                <a:moveTo>
                  <a:pt x="0" y="0"/>
                </a:moveTo>
                <a:lnTo>
                  <a:pt x="3291859" y="0"/>
                </a:lnTo>
                <a:lnTo>
                  <a:pt x="3291859" y="1077335"/>
                </a:lnTo>
                <a:lnTo>
                  <a:pt x="0" y="107733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2765723" y="-2690390"/>
            <a:ext cx="5380781" cy="5380781"/>
          </a:xfrm>
          <a:custGeom>
            <a:avLst/>
            <a:gdLst/>
            <a:ahLst/>
            <a:cxnLst/>
            <a:rect r="r" b="b" t="t" l="l"/>
            <a:pathLst>
              <a:path h="5380781" w="5380781">
                <a:moveTo>
                  <a:pt x="0" y="0"/>
                </a:moveTo>
                <a:lnTo>
                  <a:pt x="5380781" y="0"/>
                </a:lnTo>
                <a:lnTo>
                  <a:pt x="5380781" y="5380780"/>
                </a:lnTo>
                <a:lnTo>
                  <a:pt x="0" y="53807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055927" y="2736793"/>
            <a:ext cx="12176146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spc="-268">
                <a:solidFill>
                  <a:srgbClr val="4C3F1F"/>
                </a:solidFill>
                <a:latin typeface="TAN Headline"/>
                <a:ea typeface="TAN Headline"/>
                <a:cs typeface="TAN Headline"/>
                <a:sym typeface="TAN Headline"/>
              </a:rPr>
              <a:t>SITUACION ACTUAL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20687" y="4767329"/>
            <a:ext cx="8046625" cy="275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4589" indent="-282294" lvl="1">
              <a:lnSpc>
                <a:spcPts val="3138"/>
              </a:lnSpc>
              <a:buFont typeface="Arial"/>
              <a:buChar char="•"/>
            </a:pPr>
            <a:r>
              <a:rPr lang="en-US" sz="2615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Los talleres de canto independientes gestionan alumnos, asistencia y evaluaciones con herramientas informales: WhatsApp, planillas, cuadernos.</a:t>
            </a:r>
          </a:p>
          <a:p>
            <a:pPr algn="ctr">
              <a:lnSpc>
                <a:spcPts val="3138"/>
              </a:lnSpc>
            </a:pPr>
          </a:p>
          <a:p>
            <a:pPr algn="ctr" marL="564589" indent="-282294" lvl="1">
              <a:lnSpc>
                <a:spcPts val="3138"/>
              </a:lnSpc>
              <a:buFont typeface="Arial"/>
              <a:buChar char="•"/>
            </a:pPr>
            <a:r>
              <a:rPr lang="en-US" sz="2615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usan plataformas educativas existentes (LMS corporativos) porque están sobredimensionadas para un taller pequeño.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111" r="0" b="-21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8642839" y="-2871284"/>
            <a:ext cx="11367124" cy="10519756"/>
          </a:xfrm>
          <a:custGeom>
            <a:avLst/>
            <a:gdLst/>
            <a:ahLst/>
            <a:cxnLst/>
            <a:rect r="r" b="b" t="t" l="l"/>
            <a:pathLst>
              <a:path h="10519756" w="11367124">
                <a:moveTo>
                  <a:pt x="0" y="10519757"/>
                </a:moveTo>
                <a:lnTo>
                  <a:pt x="11367124" y="10519757"/>
                </a:lnTo>
                <a:lnTo>
                  <a:pt x="11367124" y="0"/>
                </a:lnTo>
                <a:lnTo>
                  <a:pt x="0" y="0"/>
                </a:lnTo>
                <a:lnTo>
                  <a:pt x="0" y="1051975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107482" y="2388595"/>
            <a:ext cx="11367124" cy="10519756"/>
          </a:xfrm>
          <a:custGeom>
            <a:avLst/>
            <a:gdLst/>
            <a:ahLst/>
            <a:cxnLst/>
            <a:rect r="r" b="b" t="t" l="l"/>
            <a:pathLst>
              <a:path h="10519756" w="11367124">
                <a:moveTo>
                  <a:pt x="11367123" y="0"/>
                </a:moveTo>
                <a:lnTo>
                  <a:pt x="0" y="0"/>
                </a:lnTo>
                <a:lnTo>
                  <a:pt x="0" y="10519756"/>
                </a:lnTo>
                <a:lnTo>
                  <a:pt x="11367123" y="10519756"/>
                </a:lnTo>
                <a:lnTo>
                  <a:pt x="1136712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55865" y="-1282757"/>
            <a:ext cx="5574236" cy="4114800"/>
          </a:xfrm>
          <a:custGeom>
            <a:avLst/>
            <a:gdLst/>
            <a:ahLst/>
            <a:cxnLst/>
            <a:rect r="r" b="b" t="t" l="l"/>
            <a:pathLst>
              <a:path h="4114800" w="5574236">
                <a:moveTo>
                  <a:pt x="0" y="0"/>
                </a:moveTo>
                <a:lnTo>
                  <a:pt x="5574236" y="0"/>
                </a:lnTo>
                <a:lnTo>
                  <a:pt x="55742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15058" y="1028700"/>
            <a:ext cx="12818720" cy="8229600"/>
            <a:chOff x="0" y="0"/>
            <a:chExt cx="17091627" cy="109728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7091627" cy="10972800"/>
              <a:chOff x="0" y="0"/>
              <a:chExt cx="3376124" cy="216746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376124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3376124">
                    <a:moveTo>
                      <a:pt x="30198" y="0"/>
                    </a:moveTo>
                    <a:lnTo>
                      <a:pt x="3345926" y="0"/>
                    </a:lnTo>
                    <a:cubicBezTo>
                      <a:pt x="3362604" y="0"/>
                      <a:pt x="3376124" y="13520"/>
                      <a:pt x="3376124" y="30198"/>
                    </a:cubicBezTo>
                    <a:lnTo>
                      <a:pt x="3376124" y="2137269"/>
                    </a:lnTo>
                    <a:cubicBezTo>
                      <a:pt x="3376124" y="2145278"/>
                      <a:pt x="3372942" y="2152959"/>
                      <a:pt x="3367279" y="2158622"/>
                    </a:cubicBezTo>
                    <a:cubicBezTo>
                      <a:pt x="3361616" y="2164285"/>
                      <a:pt x="3353935" y="2167467"/>
                      <a:pt x="3345926" y="2167467"/>
                    </a:cubicBezTo>
                    <a:lnTo>
                      <a:pt x="30198" y="2167467"/>
                    </a:lnTo>
                    <a:cubicBezTo>
                      <a:pt x="22189" y="2167467"/>
                      <a:pt x="14508" y="2164285"/>
                      <a:pt x="8845" y="2158622"/>
                    </a:cubicBezTo>
                    <a:cubicBezTo>
                      <a:pt x="3182" y="2152959"/>
                      <a:pt x="0" y="2145278"/>
                      <a:pt x="0" y="2137269"/>
                    </a:cubicBezTo>
                    <a:lnTo>
                      <a:pt x="0" y="30198"/>
                    </a:lnTo>
                    <a:cubicBezTo>
                      <a:pt x="0" y="22189"/>
                      <a:pt x="3182" y="14508"/>
                      <a:pt x="8845" y="8845"/>
                    </a:cubicBezTo>
                    <a:cubicBezTo>
                      <a:pt x="14508" y="3182"/>
                      <a:pt x="22189" y="0"/>
                      <a:pt x="30198" y="0"/>
                    </a:cubicBezTo>
                    <a:close/>
                  </a:path>
                </a:pathLst>
              </a:custGeom>
              <a:solidFill>
                <a:srgbClr val="FFF9E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95250"/>
                <a:ext cx="3376124" cy="2262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3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26356" y="141464"/>
              <a:ext cx="16838914" cy="10689872"/>
              <a:chOff x="0" y="0"/>
              <a:chExt cx="3326205" cy="211158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326205" cy="2111580"/>
              </a:xfrm>
              <a:custGeom>
                <a:avLst/>
                <a:gdLst/>
                <a:ahLst/>
                <a:cxnLst/>
                <a:rect r="r" b="b" t="t" l="l"/>
                <a:pathLst>
                  <a:path h="2111580" w="3326205">
                    <a:moveTo>
                      <a:pt x="30651" y="0"/>
                    </a:moveTo>
                    <a:lnTo>
                      <a:pt x="3295555" y="0"/>
                    </a:lnTo>
                    <a:cubicBezTo>
                      <a:pt x="3312483" y="0"/>
                      <a:pt x="3326205" y="13723"/>
                      <a:pt x="3326205" y="30651"/>
                    </a:cubicBezTo>
                    <a:lnTo>
                      <a:pt x="3326205" y="2080929"/>
                    </a:lnTo>
                    <a:cubicBezTo>
                      <a:pt x="3326205" y="2089058"/>
                      <a:pt x="3322976" y="2096854"/>
                      <a:pt x="3317228" y="2102602"/>
                    </a:cubicBezTo>
                    <a:cubicBezTo>
                      <a:pt x="3311480" y="2108350"/>
                      <a:pt x="3303684" y="2111580"/>
                      <a:pt x="3295555" y="2111580"/>
                    </a:cubicBezTo>
                    <a:lnTo>
                      <a:pt x="30651" y="2111580"/>
                    </a:lnTo>
                    <a:cubicBezTo>
                      <a:pt x="22522" y="2111580"/>
                      <a:pt x="14726" y="2108350"/>
                      <a:pt x="8977" y="2102602"/>
                    </a:cubicBezTo>
                    <a:cubicBezTo>
                      <a:pt x="3229" y="2096854"/>
                      <a:pt x="0" y="2089058"/>
                      <a:pt x="0" y="2080929"/>
                    </a:cubicBezTo>
                    <a:lnTo>
                      <a:pt x="0" y="30651"/>
                    </a:lnTo>
                    <a:cubicBezTo>
                      <a:pt x="0" y="22522"/>
                      <a:pt x="3229" y="14726"/>
                      <a:pt x="8977" y="8977"/>
                    </a:cubicBezTo>
                    <a:cubicBezTo>
                      <a:pt x="14726" y="3229"/>
                      <a:pt x="22522" y="0"/>
                      <a:pt x="30651" y="0"/>
                    </a:cubicBezTo>
                    <a:close/>
                  </a:path>
                </a:pathLst>
              </a:custGeom>
              <a:ln w="19050" cap="rnd">
                <a:solidFill>
                  <a:srgbClr val="4C3F1F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0"/>
                <a:ext cx="3326205" cy="2206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3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4518371" y="4250130"/>
            <a:ext cx="9251257" cy="3706191"/>
            <a:chOff x="0" y="0"/>
            <a:chExt cx="2436545" cy="9761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6545" cy="976116"/>
            </a:xfrm>
            <a:custGeom>
              <a:avLst/>
              <a:gdLst/>
              <a:ahLst/>
              <a:cxnLst/>
              <a:rect r="r" b="b" t="t" l="l"/>
              <a:pathLst>
                <a:path h="976116" w="2436545">
                  <a:moveTo>
                    <a:pt x="27616" y="0"/>
                  </a:moveTo>
                  <a:lnTo>
                    <a:pt x="2408929" y="0"/>
                  </a:lnTo>
                  <a:cubicBezTo>
                    <a:pt x="2424181" y="0"/>
                    <a:pt x="2436545" y="12364"/>
                    <a:pt x="2436545" y="27616"/>
                  </a:cubicBezTo>
                  <a:lnTo>
                    <a:pt x="2436545" y="948500"/>
                  </a:lnTo>
                  <a:cubicBezTo>
                    <a:pt x="2436545" y="955824"/>
                    <a:pt x="2433636" y="962849"/>
                    <a:pt x="2428457" y="968028"/>
                  </a:cubicBezTo>
                  <a:cubicBezTo>
                    <a:pt x="2423278" y="973207"/>
                    <a:pt x="2416253" y="976116"/>
                    <a:pt x="2408929" y="976116"/>
                  </a:cubicBezTo>
                  <a:lnTo>
                    <a:pt x="27616" y="976116"/>
                  </a:lnTo>
                  <a:cubicBezTo>
                    <a:pt x="12364" y="976116"/>
                    <a:pt x="0" y="963752"/>
                    <a:pt x="0" y="948500"/>
                  </a:cubicBezTo>
                  <a:lnTo>
                    <a:pt x="0" y="27616"/>
                  </a:lnTo>
                  <a:cubicBezTo>
                    <a:pt x="0" y="12364"/>
                    <a:pt x="12364" y="0"/>
                    <a:pt x="27616" y="0"/>
                  </a:cubicBezTo>
                  <a:close/>
                </a:path>
              </a:pathLst>
            </a:custGeom>
            <a:solidFill>
              <a:srgbClr val="4C3F1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2436545" cy="10713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3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273169" y="2831829"/>
            <a:ext cx="583497" cy="633363"/>
          </a:xfrm>
          <a:custGeom>
            <a:avLst/>
            <a:gdLst/>
            <a:ahLst/>
            <a:cxnLst/>
            <a:rect r="r" b="b" t="t" l="l"/>
            <a:pathLst>
              <a:path h="633363" w="583497">
                <a:moveTo>
                  <a:pt x="0" y="0"/>
                </a:moveTo>
                <a:lnTo>
                  <a:pt x="583497" y="0"/>
                </a:lnTo>
                <a:lnTo>
                  <a:pt x="583497" y="633363"/>
                </a:lnTo>
                <a:lnTo>
                  <a:pt x="0" y="633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305550" y="2831829"/>
            <a:ext cx="583497" cy="633363"/>
          </a:xfrm>
          <a:custGeom>
            <a:avLst/>
            <a:gdLst/>
            <a:ahLst/>
            <a:cxnLst/>
            <a:rect r="r" b="b" t="t" l="l"/>
            <a:pathLst>
              <a:path h="633363" w="583497">
                <a:moveTo>
                  <a:pt x="0" y="0"/>
                </a:moveTo>
                <a:lnTo>
                  <a:pt x="583498" y="0"/>
                </a:lnTo>
                <a:lnTo>
                  <a:pt x="583498" y="633363"/>
                </a:lnTo>
                <a:lnTo>
                  <a:pt x="0" y="633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769629" y="6775389"/>
            <a:ext cx="5380781" cy="5380781"/>
          </a:xfrm>
          <a:custGeom>
            <a:avLst/>
            <a:gdLst/>
            <a:ahLst/>
            <a:cxnLst/>
            <a:rect r="r" b="b" t="t" l="l"/>
            <a:pathLst>
              <a:path h="5380781" w="5380781">
                <a:moveTo>
                  <a:pt x="0" y="0"/>
                </a:moveTo>
                <a:lnTo>
                  <a:pt x="5380781" y="0"/>
                </a:lnTo>
                <a:lnTo>
                  <a:pt x="5380781" y="5380781"/>
                </a:lnTo>
                <a:lnTo>
                  <a:pt x="0" y="53807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192808" y="7808852"/>
            <a:ext cx="5615732" cy="4114800"/>
          </a:xfrm>
          <a:custGeom>
            <a:avLst/>
            <a:gdLst/>
            <a:ahLst/>
            <a:cxnLst/>
            <a:rect r="r" b="b" t="t" l="l"/>
            <a:pathLst>
              <a:path h="4114800" w="5615732">
                <a:moveTo>
                  <a:pt x="0" y="0"/>
                </a:moveTo>
                <a:lnTo>
                  <a:pt x="5615732" y="0"/>
                </a:lnTo>
                <a:lnTo>
                  <a:pt x="56157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771921" y="-569228"/>
            <a:ext cx="3690701" cy="3717739"/>
          </a:xfrm>
          <a:custGeom>
            <a:avLst/>
            <a:gdLst/>
            <a:ahLst/>
            <a:cxnLst/>
            <a:rect r="r" b="b" t="t" l="l"/>
            <a:pathLst>
              <a:path h="3717739" w="3690701">
                <a:moveTo>
                  <a:pt x="0" y="0"/>
                </a:moveTo>
                <a:lnTo>
                  <a:pt x="3690700" y="0"/>
                </a:lnTo>
                <a:lnTo>
                  <a:pt x="3690700" y="3717739"/>
                </a:lnTo>
                <a:lnTo>
                  <a:pt x="0" y="3717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634889" y="2609843"/>
            <a:ext cx="3291859" cy="1077336"/>
          </a:xfrm>
          <a:custGeom>
            <a:avLst/>
            <a:gdLst/>
            <a:ahLst/>
            <a:cxnLst/>
            <a:rect r="r" b="b" t="t" l="l"/>
            <a:pathLst>
              <a:path h="1077336" w="3291859">
                <a:moveTo>
                  <a:pt x="0" y="0"/>
                </a:moveTo>
                <a:lnTo>
                  <a:pt x="3291859" y="0"/>
                </a:lnTo>
                <a:lnTo>
                  <a:pt x="3291859" y="1077335"/>
                </a:lnTo>
                <a:lnTo>
                  <a:pt x="0" y="10773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055927" y="2736793"/>
            <a:ext cx="12176146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spc="-268">
                <a:solidFill>
                  <a:srgbClr val="4C3F1F"/>
                </a:solidFill>
                <a:latin typeface="TAN Headline"/>
                <a:ea typeface="TAN Headline"/>
                <a:cs typeface="TAN Headline"/>
                <a:sym typeface="TAN Headline"/>
              </a:rPr>
              <a:t>DETONANTE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20687" y="4887978"/>
            <a:ext cx="8046625" cy="237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4589" indent="-282294" lvl="1">
              <a:lnSpc>
                <a:spcPts val="3138"/>
              </a:lnSpc>
              <a:buFont typeface="Arial"/>
              <a:buChar char="•"/>
            </a:pPr>
            <a:r>
              <a:rPr lang="en-US" sz="2615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Acces</a:t>
            </a:r>
            <a:r>
              <a:rPr lang="en-US" sz="2615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 directo a una usuaria real: una profesora de talleres de canto independiente, dispuesta a validar el sistema durante el semestre.</a:t>
            </a:r>
          </a:p>
          <a:p>
            <a:pPr algn="ctr">
              <a:lnSpc>
                <a:spcPts val="3138"/>
              </a:lnSpc>
            </a:pPr>
          </a:p>
          <a:p>
            <a:pPr algn="ctr" marL="564589" indent="-282294" lvl="1">
              <a:lnSpc>
                <a:spcPts val="3138"/>
              </a:lnSpc>
              <a:buFont typeface="Arial"/>
              <a:buChar char="•"/>
            </a:pPr>
            <a:r>
              <a:rPr lang="en-US" sz="2615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Interés personal genuino por el ámbito musical, que sostiene la motivación durante todo el proyecto.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111" r="0" b="-21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21989" y="2266830"/>
            <a:ext cx="11367124" cy="10519756"/>
          </a:xfrm>
          <a:custGeom>
            <a:avLst/>
            <a:gdLst/>
            <a:ahLst/>
            <a:cxnLst/>
            <a:rect r="r" b="b" t="t" l="l"/>
            <a:pathLst>
              <a:path h="10519756" w="11367124">
                <a:moveTo>
                  <a:pt x="0" y="0"/>
                </a:moveTo>
                <a:lnTo>
                  <a:pt x="11367123" y="0"/>
                </a:lnTo>
                <a:lnTo>
                  <a:pt x="11367123" y="10519756"/>
                </a:lnTo>
                <a:lnTo>
                  <a:pt x="0" y="10519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965102" y="-2428049"/>
            <a:ext cx="11367124" cy="10519756"/>
          </a:xfrm>
          <a:custGeom>
            <a:avLst/>
            <a:gdLst/>
            <a:ahLst/>
            <a:cxnLst/>
            <a:rect r="r" b="b" t="t" l="l"/>
            <a:pathLst>
              <a:path h="10519756" w="11367124">
                <a:moveTo>
                  <a:pt x="11367123" y="10519756"/>
                </a:moveTo>
                <a:lnTo>
                  <a:pt x="0" y="10519756"/>
                </a:lnTo>
                <a:lnTo>
                  <a:pt x="0" y="0"/>
                </a:lnTo>
                <a:lnTo>
                  <a:pt x="11367123" y="0"/>
                </a:lnTo>
                <a:lnTo>
                  <a:pt x="11367123" y="1051975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69055" y="7169675"/>
            <a:ext cx="9671988" cy="5662510"/>
          </a:xfrm>
          <a:custGeom>
            <a:avLst/>
            <a:gdLst/>
            <a:ahLst/>
            <a:cxnLst/>
            <a:rect r="r" b="b" t="t" l="l"/>
            <a:pathLst>
              <a:path h="5662510" w="9671988">
                <a:moveTo>
                  <a:pt x="0" y="0"/>
                </a:moveTo>
                <a:lnTo>
                  <a:pt x="9671988" y="0"/>
                </a:lnTo>
                <a:lnTo>
                  <a:pt x="9671988" y="5662509"/>
                </a:lnTo>
                <a:lnTo>
                  <a:pt x="0" y="56625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51940" y="-803813"/>
            <a:ext cx="7192163" cy="5204511"/>
          </a:xfrm>
          <a:custGeom>
            <a:avLst/>
            <a:gdLst/>
            <a:ahLst/>
            <a:cxnLst/>
            <a:rect r="r" b="b" t="t" l="l"/>
            <a:pathLst>
              <a:path h="5204511" w="7192163">
                <a:moveTo>
                  <a:pt x="0" y="0"/>
                </a:moveTo>
                <a:lnTo>
                  <a:pt x="7192162" y="0"/>
                </a:lnTo>
                <a:lnTo>
                  <a:pt x="7192162" y="5204511"/>
                </a:lnTo>
                <a:lnTo>
                  <a:pt x="0" y="52045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116585" y="1028700"/>
            <a:ext cx="14054831" cy="8229600"/>
            <a:chOff x="0" y="0"/>
            <a:chExt cx="18739775" cy="109728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8739775" cy="10972800"/>
              <a:chOff x="0" y="0"/>
              <a:chExt cx="3701684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701684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3701684">
                    <a:moveTo>
                      <a:pt x="27542" y="0"/>
                    </a:moveTo>
                    <a:lnTo>
                      <a:pt x="3674142" y="0"/>
                    </a:lnTo>
                    <a:cubicBezTo>
                      <a:pt x="3681447" y="0"/>
                      <a:pt x="3688452" y="2902"/>
                      <a:pt x="3693617" y="8067"/>
                    </a:cubicBezTo>
                    <a:cubicBezTo>
                      <a:pt x="3698782" y="13232"/>
                      <a:pt x="3701684" y="20237"/>
                      <a:pt x="3701684" y="27542"/>
                    </a:cubicBezTo>
                    <a:lnTo>
                      <a:pt x="3701684" y="2139925"/>
                    </a:lnTo>
                    <a:cubicBezTo>
                      <a:pt x="3701684" y="2155136"/>
                      <a:pt x="3689353" y="2167467"/>
                      <a:pt x="3674142" y="2167467"/>
                    </a:cubicBezTo>
                    <a:lnTo>
                      <a:pt x="27542" y="2167467"/>
                    </a:lnTo>
                    <a:cubicBezTo>
                      <a:pt x="20237" y="2167467"/>
                      <a:pt x="13232" y="2164565"/>
                      <a:pt x="8067" y="2159400"/>
                    </a:cubicBezTo>
                    <a:cubicBezTo>
                      <a:pt x="2902" y="2154235"/>
                      <a:pt x="0" y="2147229"/>
                      <a:pt x="0" y="2139925"/>
                    </a:cubicBezTo>
                    <a:lnTo>
                      <a:pt x="0" y="27542"/>
                    </a:lnTo>
                    <a:cubicBezTo>
                      <a:pt x="0" y="12331"/>
                      <a:pt x="12331" y="0"/>
                      <a:pt x="27542" y="0"/>
                    </a:cubicBezTo>
                    <a:close/>
                  </a:path>
                </a:pathLst>
              </a:custGeom>
              <a:solidFill>
                <a:srgbClr val="FFF9E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95250"/>
                <a:ext cx="3701684" cy="2262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3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38541" y="141464"/>
              <a:ext cx="18462693" cy="10689872"/>
              <a:chOff x="0" y="0"/>
              <a:chExt cx="3646952" cy="211158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646952" cy="2111580"/>
              </a:xfrm>
              <a:custGeom>
                <a:avLst/>
                <a:gdLst/>
                <a:ahLst/>
                <a:cxnLst/>
                <a:rect r="r" b="b" t="t" l="l"/>
                <a:pathLst>
                  <a:path h="2111580" w="3646952">
                    <a:moveTo>
                      <a:pt x="27955" y="0"/>
                    </a:moveTo>
                    <a:lnTo>
                      <a:pt x="3618997" y="0"/>
                    </a:lnTo>
                    <a:cubicBezTo>
                      <a:pt x="3626411" y="0"/>
                      <a:pt x="3633521" y="2945"/>
                      <a:pt x="3638764" y="8188"/>
                    </a:cubicBezTo>
                    <a:cubicBezTo>
                      <a:pt x="3644007" y="13430"/>
                      <a:pt x="3646952" y="20541"/>
                      <a:pt x="3646952" y="27955"/>
                    </a:cubicBezTo>
                    <a:lnTo>
                      <a:pt x="3646952" y="2083624"/>
                    </a:lnTo>
                    <a:cubicBezTo>
                      <a:pt x="3646952" y="2091039"/>
                      <a:pt x="3644007" y="2098149"/>
                      <a:pt x="3638764" y="2103392"/>
                    </a:cubicBezTo>
                    <a:cubicBezTo>
                      <a:pt x="3633521" y="2108634"/>
                      <a:pt x="3626411" y="2111580"/>
                      <a:pt x="3618997" y="2111580"/>
                    </a:cubicBezTo>
                    <a:lnTo>
                      <a:pt x="27955" y="2111580"/>
                    </a:lnTo>
                    <a:cubicBezTo>
                      <a:pt x="20541" y="2111580"/>
                      <a:pt x="13430" y="2108634"/>
                      <a:pt x="8188" y="2103392"/>
                    </a:cubicBezTo>
                    <a:cubicBezTo>
                      <a:pt x="2945" y="2098149"/>
                      <a:pt x="0" y="2091039"/>
                      <a:pt x="0" y="2083624"/>
                    </a:cubicBezTo>
                    <a:lnTo>
                      <a:pt x="0" y="27955"/>
                    </a:lnTo>
                    <a:cubicBezTo>
                      <a:pt x="0" y="20541"/>
                      <a:pt x="2945" y="13430"/>
                      <a:pt x="8188" y="8188"/>
                    </a:cubicBezTo>
                    <a:cubicBezTo>
                      <a:pt x="13430" y="2945"/>
                      <a:pt x="20541" y="0"/>
                      <a:pt x="27955" y="0"/>
                    </a:cubicBezTo>
                    <a:close/>
                  </a:path>
                </a:pathLst>
              </a:custGeom>
              <a:ln w="19050" cap="rnd">
                <a:solidFill>
                  <a:srgbClr val="4C3F1F"/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95250"/>
                <a:ext cx="3646952" cy="2206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3"/>
                  </a:lnSpc>
                </a:pPr>
              </a:p>
            </p:txBody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3336060" y="3301912"/>
            <a:ext cx="583497" cy="633363"/>
          </a:xfrm>
          <a:custGeom>
            <a:avLst/>
            <a:gdLst/>
            <a:ahLst/>
            <a:cxnLst/>
            <a:rect r="r" b="b" t="t" l="l"/>
            <a:pathLst>
              <a:path h="633363" w="583497">
                <a:moveTo>
                  <a:pt x="0" y="0"/>
                </a:moveTo>
                <a:lnTo>
                  <a:pt x="583498" y="0"/>
                </a:lnTo>
                <a:lnTo>
                  <a:pt x="583498" y="633364"/>
                </a:lnTo>
                <a:lnTo>
                  <a:pt x="0" y="6333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368442" y="3301912"/>
            <a:ext cx="583497" cy="633363"/>
          </a:xfrm>
          <a:custGeom>
            <a:avLst/>
            <a:gdLst/>
            <a:ahLst/>
            <a:cxnLst/>
            <a:rect r="r" b="b" t="t" l="l"/>
            <a:pathLst>
              <a:path h="633363" w="583497">
                <a:moveTo>
                  <a:pt x="0" y="0"/>
                </a:moveTo>
                <a:lnTo>
                  <a:pt x="583498" y="0"/>
                </a:lnTo>
                <a:lnTo>
                  <a:pt x="583498" y="633364"/>
                </a:lnTo>
                <a:lnTo>
                  <a:pt x="0" y="6333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680415" y="2570050"/>
            <a:ext cx="3514169" cy="1150092"/>
          </a:xfrm>
          <a:custGeom>
            <a:avLst/>
            <a:gdLst/>
            <a:ahLst/>
            <a:cxnLst/>
            <a:rect r="r" b="b" t="t" l="l"/>
            <a:pathLst>
              <a:path h="1150092" w="3514169">
                <a:moveTo>
                  <a:pt x="0" y="0"/>
                </a:moveTo>
                <a:lnTo>
                  <a:pt x="3514169" y="0"/>
                </a:lnTo>
                <a:lnTo>
                  <a:pt x="3514169" y="1150091"/>
                </a:lnTo>
                <a:lnTo>
                  <a:pt x="0" y="115009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261424" y="5143500"/>
            <a:ext cx="11690516" cy="2804925"/>
            <a:chOff x="0" y="0"/>
            <a:chExt cx="3078984" cy="7387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78984" cy="738746"/>
            </a:xfrm>
            <a:custGeom>
              <a:avLst/>
              <a:gdLst/>
              <a:ahLst/>
              <a:cxnLst/>
              <a:rect r="r" b="b" t="t" l="l"/>
              <a:pathLst>
                <a:path h="738746" w="3078984">
                  <a:moveTo>
                    <a:pt x="21854" y="0"/>
                  </a:moveTo>
                  <a:lnTo>
                    <a:pt x="3057130" y="0"/>
                  </a:lnTo>
                  <a:cubicBezTo>
                    <a:pt x="3069199" y="0"/>
                    <a:pt x="3078984" y="9784"/>
                    <a:pt x="3078984" y="21854"/>
                  </a:cubicBezTo>
                  <a:lnTo>
                    <a:pt x="3078984" y="716892"/>
                  </a:lnTo>
                  <a:cubicBezTo>
                    <a:pt x="3078984" y="722688"/>
                    <a:pt x="3076681" y="728246"/>
                    <a:pt x="3072583" y="732345"/>
                  </a:cubicBezTo>
                  <a:cubicBezTo>
                    <a:pt x="3068484" y="736443"/>
                    <a:pt x="3062926" y="738746"/>
                    <a:pt x="3057130" y="738746"/>
                  </a:cubicBezTo>
                  <a:lnTo>
                    <a:pt x="21854" y="738746"/>
                  </a:lnTo>
                  <a:cubicBezTo>
                    <a:pt x="9784" y="738746"/>
                    <a:pt x="0" y="728961"/>
                    <a:pt x="0" y="716892"/>
                  </a:cubicBezTo>
                  <a:lnTo>
                    <a:pt x="0" y="21854"/>
                  </a:lnTo>
                  <a:cubicBezTo>
                    <a:pt x="0" y="9784"/>
                    <a:pt x="9784" y="0"/>
                    <a:pt x="21854" y="0"/>
                  </a:cubicBezTo>
                  <a:close/>
                </a:path>
              </a:pathLst>
            </a:custGeom>
            <a:solidFill>
              <a:srgbClr val="4C3F1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3078984" cy="833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3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1811677" y="-1806530"/>
            <a:ext cx="5731235" cy="4376579"/>
          </a:xfrm>
          <a:custGeom>
            <a:avLst/>
            <a:gdLst/>
            <a:ahLst/>
            <a:cxnLst/>
            <a:rect r="r" b="b" t="t" l="l"/>
            <a:pathLst>
              <a:path h="4376579" w="5731235">
                <a:moveTo>
                  <a:pt x="0" y="0"/>
                </a:moveTo>
                <a:lnTo>
                  <a:pt x="5731235" y="0"/>
                </a:lnTo>
                <a:lnTo>
                  <a:pt x="5731235" y="4376580"/>
                </a:lnTo>
                <a:lnTo>
                  <a:pt x="0" y="4376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3077464" y="6283850"/>
            <a:ext cx="6154927" cy="6154927"/>
          </a:xfrm>
          <a:custGeom>
            <a:avLst/>
            <a:gdLst/>
            <a:ahLst/>
            <a:cxnLst/>
            <a:rect r="r" b="b" t="t" l="l"/>
            <a:pathLst>
              <a:path h="6154927" w="6154927">
                <a:moveTo>
                  <a:pt x="0" y="0"/>
                </a:moveTo>
                <a:lnTo>
                  <a:pt x="6154928" y="0"/>
                </a:lnTo>
                <a:lnTo>
                  <a:pt x="6154928" y="6154927"/>
                </a:lnTo>
                <a:lnTo>
                  <a:pt x="0" y="615492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114052" y="2854242"/>
            <a:ext cx="8059895" cy="67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9"/>
              </a:lnSpc>
            </a:pPr>
            <a:r>
              <a:rPr lang="en-US" sz="3964" spc="-221">
                <a:solidFill>
                  <a:srgbClr val="4C3F1F"/>
                </a:solidFill>
                <a:latin typeface="TAN Headline"/>
                <a:ea typeface="TAN Headline"/>
                <a:cs typeface="TAN Headline"/>
                <a:sym typeface="TAN Headline"/>
              </a:rPr>
              <a:t>DEFINICIÓN DEL PROBLEMA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77997" y="5518892"/>
            <a:ext cx="11044876" cy="186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1461" indent="-265730" lvl="1">
              <a:lnSpc>
                <a:spcPts val="2953"/>
              </a:lnSpc>
              <a:buFont typeface="Arial"/>
              <a:buChar char="•"/>
            </a:pPr>
            <a:r>
              <a:rPr lang="en-US" sz="2461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Registr</a:t>
            </a:r>
            <a:r>
              <a:rPr lang="en-US" sz="2461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 desordenado de asistencia (firma en lista física).</a:t>
            </a:r>
          </a:p>
          <a:p>
            <a:pPr algn="ctr">
              <a:lnSpc>
                <a:spcPts val="2953"/>
              </a:lnSpc>
            </a:pPr>
          </a:p>
          <a:p>
            <a:pPr algn="ctr" marL="531461" indent="-265730" lvl="1">
              <a:lnSpc>
                <a:spcPts val="2953"/>
              </a:lnSpc>
              <a:buFont typeface="Arial"/>
              <a:buChar char="•"/>
            </a:pPr>
            <a:r>
              <a:rPr lang="en-US" sz="2461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 avance del alumno lo nota casi siempre el profesor, no el propio alumno.</a:t>
            </a:r>
          </a:p>
          <a:p>
            <a:pPr algn="ctr">
              <a:lnSpc>
                <a:spcPts val="2953"/>
              </a:lnSpc>
            </a:pPr>
          </a:p>
          <a:p>
            <a:pPr algn="ctr" marL="531461" indent="-265730" lvl="1">
              <a:lnSpc>
                <a:spcPts val="2953"/>
              </a:lnSpc>
              <a:buFont typeface="Arial"/>
              <a:buChar char="•"/>
            </a:pPr>
            <a:r>
              <a:rPr lang="en-US" sz="2461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hay forma simple de consultar el progreso individual de cada estudiante.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111" r="0" b="-21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8642839" y="-2871284"/>
            <a:ext cx="11367124" cy="10519756"/>
          </a:xfrm>
          <a:custGeom>
            <a:avLst/>
            <a:gdLst/>
            <a:ahLst/>
            <a:cxnLst/>
            <a:rect r="r" b="b" t="t" l="l"/>
            <a:pathLst>
              <a:path h="10519756" w="11367124">
                <a:moveTo>
                  <a:pt x="0" y="10519757"/>
                </a:moveTo>
                <a:lnTo>
                  <a:pt x="11367124" y="10519757"/>
                </a:lnTo>
                <a:lnTo>
                  <a:pt x="11367124" y="0"/>
                </a:lnTo>
                <a:lnTo>
                  <a:pt x="0" y="0"/>
                </a:lnTo>
                <a:lnTo>
                  <a:pt x="0" y="1051975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107482" y="2388595"/>
            <a:ext cx="11367124" cy="10519756"/>
          </a:xfrm>
          <a:custGeom>
            <a:avLst/>
            <a:gdLst/>
            <a:ahLst/>
            <a:cxnLst/>
            <a:rect r="r" b="b" t="t" l="l"/>
            <a:pathLst>
              <a:path h="10519756" w="11367124">
                <a:moveTo>
                  <a:pt x="11367123" y="0"/>
                </a:moveTo>
                <a:lnTo>
                  <a:pt x="0" y="0"/>
                </a:lnTo>
                <a:lnTo>
                  <a:pt x="0" y="10519756"/>
                </a:lnTo>
                <a:lnTo>
                  <a:pt x="11367123" y="10519756"/>
                </a:lnTo>
                <a:lnTo>
                  <a:pt x="1136712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615058" y="1028700"/>
            <a:ext cx="12818720" cy="8229600"/>
            <a:chOff x="0" y="0"/>
            <a:chExt cx="17091627" cy="109728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7091627" cy="10972800"/>
              <a:chOff x="0" y="0"/>
              <a:chExt cx="3376124" cy="216746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376124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3376124">
                    <a:moveTo>
                      <a:pt x="30198" y="0"/>
                    </a:moveTo>
                    <a:lnTo>
                      <a:pt x="3345926" y="0"/>
                    </a:lnTo>
                    <a:cubicBezTo>
                      <a:pt x="3362604" y="0"/>
                      <a:pt x="3376124" y="13520"/>
                      <a:pt x="3376124" y="30198"/>
                    </a:cubicBezTo>
                    <a:lnTo>
                      <a:pt x="3376124" y="2137269"/>
                    </a:lnTo>
                    <a:cubicBezTo>
                      <a:pt x="3376124" y="2145278"/>
                      <a:pt x="3372942" y="2152959"/>
                      <a:pt x="3367279" y="2158622"/>
                    </a:cubicBezTo>
                    <a:cubicBezTo>
                      <a:pt x="3361616" y="2164285"/>
                      <a:pt x="3353935" y="2167467"/>
                      <a:pt x="3345926" y="2167467"/>
                    </a:cubicBezTo>
                    <a:lnTo>
                      <a:pt x="30198" y="2167467"/>
                    </a:lnTo>
                    <a:cubicBezTo>
                      <a:pt x="22189" y="2167467"/>
                      <a:pt x="14508" y="2164285"/>
                      <a:pt x="8845" y="2158622"/>
                    </a:cubicBezTo>
                    <a:cubicBezTo>
                      <a:pt x="3182" y="2152959"/>
                      <a:pt x="0" y="2145278"/>
                      <a:pt x="0" y="2137269"/>
                    </a:cubicBezTo>
                    <a:lnTo>
                      <a:pt x="0" y="30198"/>
                    </a:lnTo>
                    <a:cubicBezTo>
                      <a:pt x="0" y="22189"/>
                      <a:pt x="3182" y="14508"/>
                      <a:pt x="8845" y="8845"/>
                    </a:cubicBezTo>
                    <a:cubicBezTo>
                      <a:pt x="14508" y="3182"/>
                      <a:pt x="22189" y="0"/>
                      <a:pt x="30198" y="0"/>
                    </a:cubicBezTo>
                    <a:close/>
                  </a:path>
                </a:pathLst>
              </a:custGeom>
              <a:solidFill>
                <a:srgbClr val="FFF9ED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0"/>
                <a:ext cx="3376124" cy="2262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6356" y="141464"/>
              <a:ext cx="16838914" cy="10689872"/>
              <a:chOff x="0" y="0"/>
              <a:chExt cx="3326205" cy="211158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326205" cy="2111580"/>
              </a:xfrm>
              <a:custGeom>
                <a:avLst/>
                <a:gdLst/>
                <a:ahLst/>
                <a:cxnLst/>
                <a:rect r="r" b="b" t="t" l="l"/>
                <a:pathLst>
                  <a:path h="2111580" w="3326205">
                    <a:moveTo>
                      <a:pt x="30651" y="0"/>
                    </a:moveTo>
                    <a:lnTo>
                      <a:pt x="3295555" y="0"/>
                    </a:lnTo>
                    <a:cubicBezTo>
                      <a:pt x="3312483" y="0"/>
                      <a:pt x="3326205" y="13723"/>
                      <a:pt x="3326205" y="30651"/>
                    </a:cubicBezTo>
                    <a:lnTo>
                      <a:pt x="3326205" y="2080929"/>
                    </a:lnTo>
                    <a:cubicBezTo>
                      <a:pt x="3326205" y="2089058"/>
                      <a:pt x="3322976" y="2096854"/>
                      <a:pt x="3317228" y="2102602"/>
                    </a:cubicBezTo>
                    <a:cubicBezTo>
                      <a:pt x="3311480" y="2108350"/>
                      <a:pt x="3303684" y="2111580"/>
                      <a:pt x="3295555" y="2111580"/>
                    </a:cubicBezTo>
                    <a:lnTo>
                      <a:pt x="30651" y="2111580"/>
                    </a:lnTo>
                    <a:cubicBezTo>
                      <a:pt x="22522" y="2111580"/>
                      <a:pt x="14726" y="2108350"/>
                      <a:pt x="8977" y="2102602"/>
                    </a:cubicBezTo>
                    <a:cubicBezTo>
                      <a:pt x="3229" y="2096854"/>
                      <a:pt x="0" y="2089058"/>
                      <a:pt x="0" y="2080929"/>
                    </a:cubicBezTo>
                    <a:lnTo>
                      <a:pt x="0" y="30651"/>
                    </a:lnTo>
                    <a:cubicBezTo>
                      <a:pt x="0" y="22522"/>
                      <a:pt x="3229" y="14726"/>
                      <a:pt x="8977" y="8977"/>
                    </a:cubicBezTo>
                    <a:cubicBezTo>
                      <a:pt x="14726" y="3229"/>
                      <a:pt x="22522" y="0"/>
                      <a:pt x="30651" y="0"/>
                    </a:cubicBezTo>
                    <a:close/>
                  </a:path>
                </a:pathLst>
              </a:custGeom>
              <a:ln w="19050" cap="rnd">
                <a:solidFill>
                  <a:srgbClr val="4C3F1F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0"/>
                <a:ext cx="3326205" cy="2206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3"/>
                  </a:lnSpc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3336060" y="3021590"/>
            <a:ext cx="583497" cy="633363"/>
          </a:xfrm>
          <a:custGeom>
            <a:avLst/>
            <a:gdLst/>
            <a:ahLst/>
            <a:cxnLst/>
            <a:rect r="r" b="b" t="t" l="l"/>
            <a:pathLst>
              <a:path h="633363" w="583497">
                <a:moveTo>
                  <a:pt x="0" y="0"/>
                </a:moveTo>
                <a:lnTo>
                  <a:pt x="583498" y="0"/>
                </a:lnTo>
                <a:lnTo>
                  <a:pt x="583498" y="633363"/>
                </a:lnTo>
                <a:lnTo>
                  <a:pt x="0" y="633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68442" y="3021590"/>
            <a:ext cx="583497" cy="633363"/>
          </a:xfrm>
          <a:custGeom>
            <a:avLst/>
            <a:gdLst/>
            <a:ahLst/>
            <a:cxnLst/>
            <a:rect r="r" b="b" t="t" l="l"/>
            <a:pathLst>
              <a:path h="633363" w="583497">
                <a:moveTo>
                  <a:pt x="0" y="0"/>
                </a:moveTo>
                <a:lnTo>
                  <a:pt x="583498" y="0"/>
                </a:lnTo>
                <a:lnTo>
                  <a:pt x="583498" y="633363"/>
                </a:lnTo>
                <a:lnTo>
                  <a:pt x="0" y="633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849570" y="3179139"/>
            <a:ext cx="3691073" cy="1207987"/>
          </a:xfrm>
          <a:custGeom>
            <a:avLst/>
            <a:gdLst/>
            <a:ahLst/>
            <a:cxnLst/>
            <a:rect r="r" b="b" t="t" l="l"/>
            <a:pathLst>
              <a:path h="1207987" w="3691073">
                <a:moveTo>
                  <a:pt x="0" y="0"/>
                </a:moveTo>
                <a:lnTo>
                  <a:pt x="3691073" y="0"/>
                </a:lnTo>
                <a:lnTo>
                  <a:pt x="3691073" y="1207988"/>
                </a:lnTo>
                <a:lnTo>
                  <a:pt x="0" y="12079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298742" y="4844327"/>
            <a:ext cx="11690516" cy="3155743"/>
            <a:chOff x="0" y="0"/>
            <a:chExt cx="3078984" cy="8311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78984" cy="831142"/>
            </a:xfrm>
            <a:custGeom>
              <a:avLst/>
              <a:gdLst/>
              <a:ahLst/>
              <a:cxnLst/>
              <a:rect r="r" b="b" t="t" l="l"/>
              <a:pathLst>
                <a:path h="831142" w="3078984">
                  <a:moveTo>
                    <a:pt x="21854" y="0"/>
                  </a:moveTo>
                  <a:lnTo>
                    <a:pt x="3057130" y="0"/>
                  </a:lnTo>
                  <a:cubicBezTo>
                    <a:pt x="3069199" y="0"/>
                    <a:pt x="3078984" y="9784"/>
                    <a:pt x="3078984" y="21854"/>
                  </a:cubicBezTo>
                  <a:lnTo>
                    <a:pt x="3078984" y="809288"/>
                  </a:lnTo>
                  <a:cubicBezTo>
                    <a:pt x="3078984" y="821358"/>
                    <a:pt x="3069199" y="831142"/>
                    <a:pt x="3057130" y="831142"/>
                  </a:cubicBezTo>
                  <a:lnTo>
                    <a:pt x="21854" y="831142"/>
                  </a:lnTo>
                  <a:cubicBezTo>
                    <a:pt x="9784" y="831142"/>
                    <a:pt x="0" y="821358"/>
                    <a:pt x="0" y="809288"/>
                  </a:cubicBezTo>
                  <a:lnTo>
                    <a:pt x="0" y="21854"/>
                  </a:lnTo>
                  <a:cubicBezTo>
                    <a:pt x="0" y="9784"/>
                    <a:pt x="9784" y="0"/>
                    <a:pt x="21854" y="0"/>
                  </a:cubicBezTo>
                  <a:close/>
                </a:path>
              </a:pathLst>
            </a:custGeom>
            <a:solidFill>
              <a:srgbClr val="4C3F1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3078984" cy="926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3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2111048" y="-3923588"/>
            <a:ext cx="6791463" cy="6791463"/>
          </a:xfrm>
          <a:custGeom>
            <a:avLst/>
            <a:gdLst/>
            <a:ahLst/>
            <a:cxnLst/>
            <a:rect r="r" b="b" t="t" l="l"/>
            <a:pathLst>
              <a:path h="6791463" w="6791463">
                <a:moveTo>
                  <a:pt x="0" y="0"/>
                </a:moveTo>
                <a:lnTo>
                  <a:pt x="6791463" y="0"/>
                </a:lnTo>
                <a:lnTo>
                  <a:pt x="6791463" y="6791463"/>
                </a:lnTo>
                <a:lnTo>
                  <a:pt x="0" y="67914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680063" y="8293779"/>
            <a:ext cx="7158475" cy="5089025"/>
          </a:xfrm>
          <a:custGeom>
            <a:avLst/>
            <a:gdLst/>
            <a:ahLst/>
            <a:cxnLst/>
            <a:rect r="r" b="b" t="t" l="l"/>
            <a:pathLst>
              <a:path h="5089025" w="7158475">
                <a:moveTo>
                  <a:pt x="0" y="0"/>
                </a:moveTo>
                <a:lnTo>
                  <a:pt x="7158474" y="0"/>
                </a:lnTo>
                <a:lnTo>
                  <a:pt x="7158474" y="5089025"/>
                </a:lnTo>
                <a:lnTo>
                  <a:pt x="0" y="50890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2634811" y="5856512"/>
            <a:ext cx="5657328" cy="5657328"/>
          </a:xfrm>
          <a:custGeom>
            <a:avLst/>
            <a:gdLst/>
            <a:ahLst/>
            <a:cxnLst/>
            <a:rect r="r" b="b" t="t" l="l"/>
            <a:pathLst>
              <a:path h="5657328" w="5657328">
                <a:moveTo>
                  <a:pt x="0" y="0"/>
                </a:moveTo>
                <a:lnTo>
                  <a:pt x="5657328" y="0"/>
                </a:lnTo>
                <a:lnTo>
                  <a:pt x="5657328" y="5657329"/>
                </a:lnTo>
                <a:lnTo>
                  <a:pt x="0" y="56573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368442" y="-2057400"/>
            <a:ext cx="5615732" cy="4114800"/>
          </a:xfrm>
          <a:custGeom>
            <a:avLst/>
            <a:gdLst/>
            <a:ahLst/>
            <a:cxnLst/>
            <a:rect r="r" b="b" t="t" l="l"/>
            <a:pathLst>
              <a:path h="4114800" w="5615732">
                <a:moveTo>
                  <a:pt x="0" y="0"/>
                </a:moveTo>
                <a:lnTo>
                  <a:pt x="5615732" y="0"/>
                </a:lnTo>
                <a:lnTo>
                  <a:pt x="56157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207372" y="2548488"/>
            <a:ext cx="7747472" cy="166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spc="-268">
                <a:solidFill>
                  <a:srgbClr val="4C3F1F"/>
                </a:solidFill>
                <a:latin typeface="TAN Headline"/>
                <a:ea typeface="TAN Headline"/>
                <a:cs typeface="TAN Headline"/>
                <a:sym typeface="TAN Headline"/>
              </a:rPr>
              <a:t>EVIDENCIA DEL PROBLEMA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30887" y="5396777"/>
            <a:ext cx="11729304" cy="198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4394" indent="-282197" lvl="1">
              <a:lnSpc>
                <a:spcPts val="3136"/>
              </a:lnSpc>
              <a:buFont typeface="Arial"/>
              <a:buChar char="•"/>
            </a:pPr>
            <a:r>
              <a:rPr lang="en-US" sz="2614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Hallazg</a:t>
            </a:r>
            <a:r>
              <a:rPr lang="en-US" sz="2614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os de entrevista con la usuaria real: método actual "funcional pero mejorable".</a:t>
            </a:r>
          </a:p>
          <a:p>
            <a:pPr algn="ctr">
              <a:lnSpc>
                <a:spcPts val="3136"/>
              </a:lnSpc>
            </a:pPr>
          </a:p>
          <a:p>
            <a:pPr algn="ctr" marL="564394" indent="-282197" lvl="1">
              <a:lnSpc>
                <a:spcPts val="3136"/>
              </a:lnSpc>
              <a:buFont typeface="Arial"/>
              <a:buChar char="•"/>
            </a:pPr>
            <a:r>
              <a:rPr lang="en-US" sz="2614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Necesidad explícita detectada: que el alumno note sus propias mejoras vocales sin depender solo del feedback del profesor.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111" r="0" b="-21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8642839" y="-2871284"/>
            <a:ext cx="11367124" cy="10519756"/>
          </a:xfrm>
          <a:custGeom>
            <a:avLst/>
            <a:gdLst/>
            <a:ahLst/>
            <a:cxnLst/>
            <a:rect r="r" b="b" t="t" l="l"/>
            <a:pathLst>
              <a:path h="10519756" w="11367124">
                <a:moveTo>
                  <a:pt x="0" y="10519757"/>
                </a:moveTo>
                <a:lnTo>
                  <a:pt x="11367124" y="10519757"/>
                </a:lnTo>
                <a:lnTo>
                  <a:pt x="11367124" y="0"/>
                </a:lnTo>
                <a:lnTo>
                  <a:pt x="0" y="0"/>
                </a:lnTo>
                <a:lnTo>
                  <a:pt x="0" y="1051975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107482" y="2388595"/>
            <a:ext cx="11367124" cy="10519756"/>
          </a:xfrm>
          <a:custGeom>
            <a:avLst/>
            <a:gdLst/>
            <a:ahLst/>
            <a:cxnLst/>
            <a:rect r="r" b="b" t="t" l="l"/>
            <a:pathLst>
              <a:path h="10519756" w="11367124">
                <a:moveTo>
                  <a:pt x="11367123" y="0"/>
                </a:moveTo>
                <a:lnTo>
                  <a:pt x="0" y="0"/>
                </a:lnTo>
                <a:lnTo>
                  <a:pt x="0" y="10519756"/>
                </a:lnTo>
                <a:lnTo>
                  <a:pt x="11367123" y="10519756"/>
                </a:lnTo>
                <a:lnTo>
                  <a:pt x="1136712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734640" y="1028700"/>
            <a:ext cx="12818720" cy="8229600"/>
            <a:chOff x="0" y="0"/>
            <a:chExt cx="17091627" cy="109728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7091627" cy="10972800"/>
              <a:chOff x="0" y="0"/>
              <a:chExt cx="3376124" cy="216746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376124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3376124">
                    <a:moveTo>
                      <a:pt x="30198" y="0"/>
                    </a:moveTo>
                    <a:lnTo>
                      <a:pt x="3345926" y="0"/>
                    </a:lnTo>
                    <a:cubicBezTo>
                      <a:pt x="3362604" y="0"/>
                      <a:pt x="3376124" y="13520"/>
                      <a:pt x="3376124" y="30198"/>
                    </a:cubicBezTo>
                    <a:lnTo>
                      <a:pt x="3376124" y="2137269"/>
                    </a:lnTo>
                    <a:cubicBezTo>
                      <a:pt x="3376124" y="2145278"/>
                      <a:pt x="3372942" y="2152959"/>
                      <a:pt x="3367279" y="2158622"/>
                    </a:cubicBezTo>
                    <a:cubicBezTo>
                      <a:pt x="3361616" y="2164285"/>
                      <a:pt x="3353935" y="2167467"/>
                      <a:pt x="3345926" y="2167467"/>
                    </a:cubicBezTo>
                    <a:lnTo>
                      <a:pt x="30198" y="2167467"/>
                    </a:lnTo>
                    <a:cubicBezTo>
                      <a:pt x="22189" y="2167467"/>
                      <a:pt x="14508" y="2164285"/>
                      <a:pt x="8845" y="2158622"/>
                    </a:cubicBezTo>
                    <a:cubicBezTo>
                      <a:pt x="3182" y="2152959"/>
                      <a:pt x="0" y="2145278"/>
                      <a:pt x="0" y="2137269"/>
                    </a:cubicBezTo>
                    <a:lnTo>
                      <a:pt x="0" y="30198"/>
                    </a:lnTo>
                    <a:cubicBezTo>
                      <a:pt x="0" y="22189"/>
                      <a:pt x="3182" y="14508"/>
                      <a:pt x="8845" y="8845"/>
                    </a:cubicBezTo>
                    <a:cubicBezTo>
                      <a:pt x="14508" y="3182"/>
                      <a:pt x="22189" y="0"/>
                      <a:pt x="30198" y="0"/>
                    </a:cubicBezTo>
                    <a:close/>
                  </a:path>
                </a:pathLst>
              </a:custGeom>
              <a:solidFill>
                <a:srgbClr val="FFF9ED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0"/>
                <a:ext cx="3376124" cy="2262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6356" y="141464"/>
              <a:ext cx="16838914" cy="10689872"/>
              <a:chOff x="0" y="0"/>
              <a:chExt cx="3326205" cy="211158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326205" cy="2111580"/>
              </a:xfrm>
              <a:custGeom>
                <a:avLst/>
                <a:gdLst/>
                <a:ahLst/>
                <a:cxnLst/>
                <a:rect r="r" b="b" t="t" l="l"/>
                <a:pathLst>
                  <a:path h="2111580" w="3326205">
                    <a:moveTo>
                      <a:pt x="30651" y="0"/>
                    </a:moveTo>
                    <a:lnTo>
                      <a:pt x="3295555" y="0"/>
                    </a:lnTo>
                    <a:cubicBezTo>
                      <a:pt x="3312483" y="0"/>
                      <a:pt x="3326205" y="13723"/>
                      <a:pt x="3326205" y="30651"/>
                    </a:cubicBezTo>
                    <a:lnTo>
                      <a:pt x="3326205" y="2080929"/>
                    </a:lnTo>
                    <a:cubicBezTo>
                      <a:pt x="3326205" y="2089058"/>
                      <a:pt x="3322976" y="2096854"/>
                      <a:pt x="3317228" y="2102602"/>
                    </a:cubicBezTo>
                    <a:cubicBezTo>
                      <a:pt x="3311480" y="2108350"/>
                      <a:pt x="3303684" y="2111580"/>
                      <a:pt x="3295555" y="2111580"/>
                    </a:cubicBezTo>
                    <a:lnTo>
                      <a:pt x="30651" y="2111580"/>
                    </a:lnTo>
                    <a:cubicBezTo>
                      <a:pt x="22522" y="2111580"/>
                      <a:pt x="14726" y="2108350"/>
                      <a:pt x="8977" y="2102602"/>
                    </a:cubicBezTo>
                    <a:cubicBezTo>
                      <a:pt x="3229" y="2096854"/>
                      <a:pt x="0" y="2089058"/>
                      <a:pt x="0" y="2080929"/>
                    </a:cubicBezTo>
                    <a:lnTo>
                      <a:pt x="0" y="30651"/>
                    </a:lnTo>
                    <a:cubicBezTo>
                      <a:pt x="0" y="22522"/>
                      <a:pt x="3229" y="14726"/>
                      <a:pt x="8977" y="8977"/>
                    </a:cubicBezTo>
                    <a:cubicBezTo>
                      <a:pt x="14726" y="3229"/>
                      <a:pt x="22522" y="0"/>
                      <a:pt x="30651" y="0"/>
                    </a:cubicBezTo>
                    <a:close/>
                  </a:path>
                </a:pathLst>
              </a:custGeom>
              <a:ln w="19050" cap="rnd">
                <a:solidFill>
                  <a:srgbClr val="4C3F1F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0"/>
                <a:ext cx="3326205" cy="2206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3"/>
                  </a:lnSpc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3336060" y="2947332"/>
            <a:ext cx="583497" cy="633363"/>
          </a:xfrm>
          <a:custGeom>
            <a:avLst/>
            <a:gdLst/>
            <a:ahLst/>
            <a:cxnLst/>
            <a:rect r="r" b="b" t="t" l="l"/>
            <a:pathLst>
              <a:path h="633363" w="583497">
                <a:moveTo>
                  <a:pt x="0" y="0"/>
                </a:moveTo>
                <a:lnTo>
                  <a:pt x="583498" y="0"/>
                </a:lnTo>
                <a:lnTo>
                  <a:pt x="583498" y="633363"/>
                </a:lnTo>
                <a:lnTo>
                  <a:pt x="0" y="633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68442" y="2947332"/>
            <a:ext cx="583497" cy="633363"/>
          </a:xfrm>
          <a:custGeom>
            <a:avLst/>
            <a:gdLst/>
            <a:ahLst/>
            <a:cxnLst/>
            <a:rect r="r" b="b" t="t" l="l"/>
            <a:pathLst>
              <a:path h="633363" w="583497">
                <a:moveTo>
                  <a:pt x="0" y="0"/>
                </a:moveTo>
                <a:lnTo>
                  <a:pt x="583498" y="0"/>
                </a:lnTo>
                <a:lnTo>
                  <a:pt x="583498" y="633363"/>
                </a:lnTo>
                <a:lnTo>
                  <a:pt x="0" y="633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432609" y="2330567"/>
            <a:ext cx="3728048" cy="1220088"/>
          </a:xfrm>
          <a:custGeom>
            <a:avLst/>
            <a:gdLst/>
            <a:ahLst/>
            <a:cxnLst/>
            <a:rect r="r" b="b" t="t" l="l"/>
            <a:pathLst>
              <a:path h="1220088" w="3728048">
                <a:moveTo>
                  <a:pt x="0" y="0"/>
                </a:moveTo>
                <a:lnTo>
                  <a:pt x="3728048" y="0"/>
                </a:lnTo>
                <a:lnTo>
                  <a:pt x="3728048" y="1220089"/>
                </a:lnTo>
                <a:lnTo>
                  <a:pt x="0" y="12200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919558" y="3961695"/>
            <a:ext cx="10684182" cy="3980332"/>
            <a:chOff x="0" y="0"/>
            <a:chExt cx="2813941" cy="10483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13941" cy="1048318"/>
            </a:xfrm>
            <a:custGeom>
              <a:avLst/>
              <a:gdLst/>
              <a:ahLst/>
              <a:cxnLst/>
              <a:rect r="r" b="b" t="t" l="l"/>
              <a:pathLst>
                <a:path h="1048318" w="2813941">
                  <a:moveTo>
                    <a:pt x="23912" y="0"/>
                  </a:moveTo>
                  <a:lnTo>
                    <a:pt x="2790029" y="0"/>
                  </a:lnTo>
                  <a:cubicBezTo>
                    <a:pt x="2803235" y="0"/>
                    <a:pt x="2813941" y="10706"/>
                    <a:pt x="2813941" y="23912"/>
                  </a:cubicBezTo>
                  <a:lnTo>
                    <a:pt x="2813941" y="1024406"/>
                  </a:lnTo>
                  <a:cubicBezTo>
                    <a:pt x="2813941" y="1030748"/>
                    <a:pt x="2811422" y="1036830"/>
                    <a:pt x="2806937" y="1041314"/>
                  </a:cubicBezTo>
                  <a:cubicBezTo>
                    <a:pt x="2802453" y="1045799"/>
                    <a:pt x="2796370" y="1048318"/>
                    <a:pt x="2790029" y="1048318"/>
                  </a:cubicBezTo>
                  <a:lnTo>
                    <a:pt x="23912" y="1048318"/>
                  </a:lnTo>
                  <a:cubicBezTo>
                    <a:pt x="17570" y="1048318"/>
                    <a:pt x="11488" y="1045799"/>
                    <a:pt x="7004" y="1041314"/>
                  </a:cubicBezTo>
                  <a:cubicBezTo>
                    <a:pt x="2519" y="1036830"/>
                    <a:pt x="0" y="1030748"/>
                    <a:pt x="0" y="1024406"/>
                  </a:cubicBezTo>
                  <a:lnTo>
                    <a:pt x="0" y="23912"/>
                  </a:lnTo>
                  <a:cubicBezTo>
                    <a:pt x="0" y="17570"/>
                    <a:pt x="2519" y="11488"/>
                    <a:pt x="7004" y="7004"/>
                  </a:cubicBezTo>
                  <a:cubicBezTo>
                    <a:pt x="11488" y="2519"/>
                    <a:pt x="17570" y="0"/>
                    <a:pt x="23912" y="0"/>
                  </a:cubicBezTo>
                  <a:close/>
                </a:path>
              </a:pathLst>
            </a:custGeom>
            <a:solidFill>
              <a:srgbClr val="4C3F1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2813941" cy="114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3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1147437" y="-1578207"/>
            <a:ext cx="6465056" cy="4525539"/>
          </a:xfrm>
          <a:custGeom>
            <a:avLst/>
            <a:gdLst/>
            <a:ahLst/>
            <a:cxnLst/>
            <a:rect r="r" b="b" t="t" l="l"/>
            <a:pathLst>
              <a:path h="4525539" w="6465056">
                <a:moveTo>
                  <a:pt x="0" y="0"/>
                </a:moveTo>
                <a:lnTo>
                  <a:pt x="6465056" y="0"/>
                </a:lnTo>
                <a:lnTo>
                  <a:pt x="6465056" y="4525539"/>
                </a:lnTo>
                <a:lnTo>
                  <a:pt x="0" y="45255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719041" y="76508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4543169" y="6054786"/>
            <a:ext cx="6791463" cy="6791463"/>
          </a:xfrm>
          <a:custGeom>
            <a:avLst/>
            <a:gdLst/>
            <a:ahLst/>
            <a:cxnLst/>
            <a:rect r="r" b="b" t="t" l="l"/>
            <a:pathLst>
              <a:path h="6791463" w="6791463">
                <a:moveTo>
                  <a:pt x="0" y="0"/>
                </a:moveTo>
                <a:lnTo>
                  <a:pt x="6791463" y="0"/>
                </a:lnTo>
                <a:lnTo>
                  <a:pt x="6791463" y="6791463"/>
                </a:lnTo>
                <a:lnTo>
                  <a:pt x="0" y="67914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126132" y="-1889924"/>
            <a:ext cx="5300619" cy="5300619"/>
          </a:xfrm>
          <a:custGeom>
            <a:avLst/>
            <a:gdLst/>
            <a:ahLst/>
            <a:cxnLst/>
            <a:rect r="r" b="b" t="t" l="l"/>
            <a:pathLst>
              <a:path h="5300619" w="5300619">
                <a:moveTo>
                  <a:pt x="0" y="0"/>
                </a:moveTo>
                <a:lnTo>
                  <a:pt x="5300618" y="0"/>
                </a:lnTo>
                <a:lnTo>
                  <a:pt x="5300618" y="5300619"/>
                </a:lnTo>
                <a:lnTo>
                  <a:pt x="0" y="530061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556021" y="2528680"/>
            <a:ext cx="9175959" cy="821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spc="-268">
                <a:solidFill>
                  <a:srgbClr val="4C3F1F"/>
                </a:solidFill>
                <a:latin typeface="TAN Headline"/>
                <a:ea typeface="TAN Headline"/>
                <a:cs typeface="TAN Headline"/>
                <a:sym typeface="TAN Headline"/>
              </a:rPr>
              <a:t>IMPACTO Y</a:t>
            </a:r>
            <a:r>
              <a:rPr lang="en-US" sz="4800" spc="-268">
                <a:solidFill>
                  <a:srgbClr val="4C3F1F"/>
                </a:solidFill>
                <a:latin typeface="TAN Headline"/>
                <a:ea typeface="TAN Headline"/>
                <a:cs typeface="TAN Headline"/>
                <a:sym typeface="TAN Headline"/>
              </a:rPr>
              <a:t> RELEVANCIA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96523" y="4489882"/>
            <a:ext cx="9694955" cy="286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7034" indent="-293517" lvl="1">
              <a:lnSpc>
                <a:spcPts val="3262"/>
              </a:lnSpc>
              <a:buFont typeface="Arial"/>
              <a:buChar char="•"/>
            </a:pPr>
            <a:r>
              <a:rPr lang="en-US" sz="2719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Afecta a pr</a:t>
            </a:r>
            <a:r>
              <a:rPr lang="en-US" sz="2719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ofesores independientes (gestión ineficiente de su tiempo) y a alumnos (falta de visibilidad de su propio progreso).</a:t>
            </a:r>
          </a:p>
          <a:p>
            <a:pPr algn="ctr">
              <a:lnSpc>
                <a:spcPts val="3262"/>
              </a:lnSpc>
            </a:pPr>
          </a:p>
          <a:p>
            <a:pPr algn="ctr" marL="587034" indent="-293517" lvl="1">
              <a:lnSpc>
                <a:spcPts val="3262"/>
              </a:lnSpc>
              <a:buFont typeface="Arial"/>
              <a:buChar char="•"/>
            </a:pPr>
            <a:r>
              <a:rPr lang="en-US" sz="2719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Costo de no resolverlo: se sigue perdiendo información de asistencia/progreso y el alumno pierde motivación al no ver avances claros.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111" r="0" b="-21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21989" y="2266830"/>
            <a:ext cx="11367124" cy="10519756"/>
          </a:xfrm>
          <a:custGeom>
            <a:avLst/>
            <a:gdLst/>
            <a:ahLst/>
            <a:cxnLst/>
            <a:rect r="r" b="b" t="t" l="l"/>
            <a:pathLst>
              <a:path h="10519756" w="11367124">
                <a:moveTo>
                  <a:pt x="0" y="0"/>
                </a:moveTo>
                <a:lnTo>
                  <a:pt x="11367123" y="0"/>
                </a:lnTo>
                <a:lnTo>
                  <a:pt x="11367123" y="10519756"/>
                </a:lnTo>
                <a:lnTo>
                  <a:pt x="0" y="10519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965102" y="-2428049"/>
            <a:ext cx="11367124" cy="10519756"/>
          </a:xfrm>
          <a:custGeom>
            <a:avLst/>
            <a:gdLst/>
            <a:ahLst/>
            <a:cxnLst/>
            <a:rect r="r" b="b" t="t" l="l"/>
            <a:pathLst>
              <a:path h="10519756" w="11367124">
                <a:moveTo>
                  <a:pt x="11367123" y="10519756"/>
                </a:moveTo>
                <a:lnTo>
                  <a:pt x="0" y="10519756"/>
                </a:lnTo>
                <a:lnTo>
                  <a:pt x="0" y="0"/>
                </a:lnTo>
                <a:lnTo>
                  <a:pt x="11367123" y="0"/>
                </a:lnTo>
                <a:lnTo>
                  <a:pt x="11367123" y="1051975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734640" y="1117324"/>
            <a:ext cx="12818720" cy="8229600"/>
            <a:chOff x="0" y="0"/>
            <a:chExt cx="17091627" cy="109728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7091627" cy="10972800"/>
              <a:chOff x="0" y="0"/>
              <a:chExt cx="3376124" cy="216746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376124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3376124">
                    <a:moveTo>
                      <a:pt x="30198" y="0"/>
                    </a:moveTo>
                    <a:lnTo>
                      <a:pt x="3345926" y="0"/>
                    </a:lnTo>
                    <a:cubicBezTo>
                      <a:pt x="3362604" y="0"/>
                      <a:pt x="3376124" y="13520"/>
                      <a:pt x="3376124" y="30198"/>
                    </a:cubicBezTo>
                    <a:lnTo>
                      <a:pt x="3376124" y="2137269"/>
                    </a:lnTo>
                    <a:cubicBezTo>
                      <a:pt x="3376124" y="2145278"/>
                      <a:pt x="3372942" y="2152959"/>
                      <a:pt x="3367279" y="2158622"/>
                    </a:cubicBezTo>
                    <a:cubicBezTo>
                      <a:pt x="3361616" y="2164285"/>
                      <a:pt x="3353935" y="2167467"/>
                      <a:pt x="3345926" y="2167467"/>
                    </a:cubicBezTo>
                    <a:lnTo>
                      <a:pt x="30198" y="2167467"/>
                    </a:lnTo>
                    <a:cubicBezTo>
                      <a:pt x="22189" y="2167467"/>
                      <a:pt x="14508" y="2164285"/>
                      <a:pt x="8845" y="2158622"/>
                    </a:cubicBezTo>
                    <a:cubicBezTo>
                      <a:pt x="3182" y="2152959"/>
                      <a:pt x="0" y="2145278"/>
                      <a:pt x="0" y="2137269"/>
                    </a:cubicBezTo>
                    <a:lnTo>
                      <a:pt x="0" y="30198"/>
                    </a:lnTo>
                    <a:cubicBezTo>
                      <a:pt x="0" y="22189"/>
                      <a:pt x="3182" y="14508"/>
                      <a:pt x="8845" y="8845"/>
                    </a:cubicBezTo>
                    <a:cubicBezTo>
                      <a:pt x="14508" y="3182"/>
                      <a:pt x="22189" y="0"/>
                      <a:pt x="30198" y="0"/>
                    </a:cubicBezTo>
                    <a:close/>
                  </a:path>
                </a:pathLst>
              </a:custGeom>
              <a:solidFill>
                <a:srgbClr val="FFF9ED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0"/>
                <a:ext cx="3376124" cy="2262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3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6356" y="141464"/>
              <a:ext cx="16838914" cy="10689872"/>
              <a:chOff x="0" y="0"/>
              <a:chExt cx="3326205" cy="211158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326205" cy="2111580"/>
              </a:xfrm>
              <a:custGeom>
                <a:avLst/>
                <a:gdLst/>
                <a:ahLst/>
                <a:cxnLst/>
                <a:rect r="r" b="b" t="t" l="l"/>
                <a:pathLst>
                  <a:path h="2111580" w="3326205">
                    <a:moveTo>
                      <a:pt x="30651" y="0"/>
                    </a:moveTo>
                    <a:lnTo>
                      <a:pt x="3295555" y="0"/>
                    </a:lnTo>
                    <a:cubicBezTo>
                      <a:pt x="3312483" y="0"/>
                      <a:pt x="3326205" y="13723"/>
                      <a:pt x="3326205" y="30651"/>
                    </a:cubicBezTo>
                    <a:lnTo>
                      <a:pt x="3326205" y="2080929"/>
                    </a:lnTo>
                    <a:cubicBezTo>
                      <a:pt x="3326205" y="2089058"/>
                      <a:pt x="3322976" y="2096854"/>
                      <a:pt x="3317228" y="2102602"/>
                    </a:cubicBezTo>
                    <a:cubicBezTo>
                      <a:pt x="3311480" y="2108350"/>
                      <a:pt x="3303684" y="2111580"/>
                      <a:pt x="3295555" y="2111580"/>
                    </a:cubicBezTo>
                    <a:lnTo>
                      <a:pt x="30651" y="2111580"/>
                    </a:lnTo>
                    <a:cubicBezTo>
                      <a:pt x="22522" y="2111580"/>
                      <a:pt x="14726" y="2108350"/>
                      <a:pt x="8977" y="2102602"/>
                    </a:cubicBezTo>
                    <a:cubicBezTo>
                      <a:pt x="3229" y="2096854"/>
                      <a:pt x="0" y="2089058"/>
                      <a:pt x="0" y="2080929"/>
                    </a:cubicBezTo>
                    <a:lnTo>
                      <a:pt x="0" y="30651"/>
                    </a:lnTo>
                    <a:cubicBezTo>
                      <a:pt x="0" y="22522"/>
                      <a:pt x="3229" y="14726"/>
                      <a:pt x="8977" y="8977"/>
                    </a:cubicBezTo>
                    <a:cubicBezTo>
                      <a:pt x="14726" y="3229"/>
                      <a:pt x="22522" y="0"/>
                      <a:pt x="30651" y="0"/>
                    </a:cubicBezTo>
                    <a:close/>
                  </a:path>
                </a:pathLst>
              </a:custGeom>
              <a:ln w="19050" cap="rnd">
                <a:solidFill>
                  <a:srgbClr val="4C3F1F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0"/>
                <a:ext cx="3326205" cy="2206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3"/>
                  </a:lnSpc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3336060" y="3141792"/>
            <a:ext cx="583497" cy="633363"/>
          </a:xfrm>
          <a:custGeom>
            <a:avLst/>
            <a:gdLst/>
            <a:ahLst/>
            <a:cxnLst/>
            <a:rect r="r" b="b" t="t" l="l"/>
            <a:pathLst>
              <a:path h="633363" w="583497">
                <a:moveTo>
                  <a:pt x="0" y="0"/>
                </a:moveTo>
                <a:lnTo>
                  <a:pt x="583498" y="0"/>
                </a:lnTo>
                <a:lnTo>
                  <a:pt x="583498" y="633363"/>
                </a:lnTo>
                <a:lnTo>
                  <a:pt x="0" y="633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68442" y="3141792"/>
            <a:ext cx="583497" cy="633363"/>
          </a:xfrm>
          <a:custGeom>
            <a:avLst/>
            <a:gdLst/>
            <a:ahLst/>
            <a:cxnLst/>
            <a:rect r="r" b="b" t="t" l="l"/>
            <a:pathLst>
              <a:path h="633363" w="583497">
                <a:moveTo>
                  <a:pt x="0" y="0"/>
                </a:moveTo>
                <a:lnTo>
                  <a:pt x="583498" y="0"/>
                </a:lnTo>
                <a:lnTo>
                  <a:pt x="583498" y="633363"/>
                </a:lnTo>
                <a:lnTo>
                  <a:pt x="0" y="633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44000" y="2460350"/>
            <a:ext cx="4164369" cy="1362885"/>
          </a:xfrm>
          <a:custGeom>
            <a:avLst/>
            <a:gdLst/>
            <a:ahLst/>
            <a:cxnLst/>
            <a:rect r="r" b="b" t="t" l="l"/>
            <a:pathLst>
              <a:path h="1362885" w="4164369">
                <a:moveTo>
                  <a:pt x="0" y="0"/>
                </a:moveTo>
                <a:lnTo>
                  <a:pt x="4164369" y="0"/>
                </a:lnTo>
                <a:lnTo>
                  <a:pt x="4164369" y="1362884"/>
                </a:lnTo>
                <a:lnTo>
                  <a:pt x="0" y="13628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908393" y="4906158"/>
            <a:ext cx="10471215" cy="3911254"/>
            <a:chOff x="0" y="0"/>
            <a:chExt cx="2757851" cy="10301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57851" cy="1030125"/>
            </a:xfrm>
            <a:custGeom>
              <a:avLst/>
              <a:gdLst/>
              <a:ahLst/>
              <a:cxnLst/>
              <a:rect r="r" b="b" t="t" l="l"/>
              <a:pathLst>
                <a:path h="1030125" w="2757851">
                  <a:moveTo>
                    <a:pt x="24399" y="0"/>
                  </a:moveTo>
                  <a:lnTo>
                    <a:pt x="2733452" y="0"/>
                  </a:lnTo>
                  <a:cubicBezTo>
                    <a:pt x="2739923" y="0"/>
                    <a:pt x="2746129" y="2571"/>
                    <a:pt x="2750705" y="7146"/>
                  </a:cubicBezTo>
                  <a:cubicBezTo>
                    <a:pt x="2755280" y="11722"/>
                    <a:pt x="2757851" y="17928"/>
                    <a:pt x="2757851" y="24399"/>
                  </a:cubicBezTo>
                  <a:lnTo>
                    <a:pt x="2757851" y="1005726"/>
                  </a:lnTo>
                  <a:cubicBezTo>
                    <a:pt x="2757851" y="1012197"/>
                    <a:pt x="2755280" y="1018403"/>
                    <a:pt x="2750705" y="1022978"/>
                  </a:cubicBezTo>
                  <a:cubicBezTo>
                    <a:pt x="2746129" y="1027554"/>
                    <a:pt x="2739923" y="1030125"/>
                    <a:pt x="2733452" y="1030125"/>
                  </a:cubicBezTo>
                  <a:lnTo>
                    <a:pt x="24399" y="1030125"/>
                  </a:lnTo>
                  <a:cubicBezTo>
                    <a:pt x="17928" y="1030125"/>
                    <a:pt x="11722" y="1027554"/>
                    <a:pt x="7146" y="1022978"/>
                  </a:cubicBezTo>
                  <a:cubicBezTo>
                    <a:pt x="2571" y="1018403"/>
                    <a:pt x="0" y="1012197"/>
                    <a:pt x="0" y="1005726"/>
                  </a:cubicBezTo>
                  <a:lnTo>
                    <a:pt x="0" y="24399"/>
                  </a:lnTo>
                  <a:cubicBezTo>
                    <a:pt x="0" y="17928"/>
                    <a:pt x="2571" y="11722"/>
                    <a:pt x="7146" y="7146"/>
                  </a:cubicBezTo>
                  <a:cubicBezTo>
                    <a:pt x="11722" y="2571"/>
                    <a:pt x="17928" y="0"/>
                    <a:pt x="24399" y="0"/>
                  </a:cubicBezTo>
                  <a:close/>
                </a:path>
              </a:pathLst>
            </a:custGeom>
            <a:solidFill>
              <a:srgbClr val="4C3F1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2757851" cy="1125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3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1867445" y="6641508"/>
            <a:ext cx="5495254" cy="5495254"/>
          </a:xfrm>
          <a:custGeom>
            <a:avLst/>
            <a:gdLst/>
            <a:ahLst/>
            <a:cxnLst/>
            <a:rect r="r" b="b" t="t" l="l"/>
            <a:pathLst>
              <a:path h="5495254" w="5495254">
                <a:moveTo>
                  <a:pt x="0" y="0"/>
                </a:moveTo>
                <a:lnTo>
                  <a:pt x="5495254" y="0"/>
                </a:lnTo>
                <a:lnTo>
                  <a:pt x="5495254" y="5495255"/>
                </a:lnTo>
                <a:lnTo>
                  <a:pt x="0" y="54952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297492" y="6641508"/>
            <a:ext cx="5657328" cy="5657328"/>
          </a:xfrm>
          <a:custGeom>
            <a:avLst/>
            <a:gdLst/>
            <a:ahLst/>
            <a:cxnLst/>
            <a:rect r="r" b="b" t="t" l="l"/>
            <a:pathLst>
              <a:path h="5657328" w="5657328">
                <a:moveTo>
                  <a:pt x="0" y="0"/>
                </a:moveTo>
                <a:lnTo>
                  <a:pt x="5657328" y="0"/>
                </a:lnTo>
                <a:lnTo>
                  <a:pt x="5657328" y="5657329"/>
                </a:lnTo>
                <a:lnTo>
                  <a:pt x="0" y="56573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069020" y="-2106483"/>
            <a:ext cx="5574236" cy="4114800"/>
          </a:xfrm>
          <a:custGeom>
            <a:avLst/>
            <a:gdLst/>
            <a:ahLst/>
            <a:cxnLst/>
            <a:rect r="r" b="b" t="t" l="l"/>
            <a:pathLst>
              <a:path h="4114800" w="5574236">
                <a:moveTo>
                  <a:pt x="0" y="0"/>
                </a:moveTo>
                <a:lnTo>
                  <a:pt x="5574236" y="0"/>
                </a:lnTo>
                <a:lnTo>
                  <a:pt x="55742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3124580" y="-1865129"/>
            <a:ext cx="5615732" cy="4114800"/>
          </a:xfrm>
          <a:custGeom>
            <a:avLst/>
            <a:gdLst/>
            <a:ahLst/>
            <a:cxnLst/>
            <a:rect r="r" b="b" t="t" l="l"/>
            <a:pathLst>
              <a:path h="4114800" w="5615732">
                <a:moveTo>
                  <a:pt x="0" y="0"/>
                </a:moveTo>
                <a:lnTo>
                  <a:pt x="5615732" y="0"/>
                </a:lnTo>
                <a:lnTo>
                  <a:pt x="56157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555790" y="2736579"/>
            <a:ext cx="9176421" cy="821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spc="-268">
                <a:solidFill>
                  <a:srgbClr val="4C3F1F"/>
                </a:solidFill>
                <a:latin typeface="TAN Headline"/>
                <a:ea typeface="TAN Headline"/>
                <a:cs typeface="TAN Headline"/>
                <a:sym typeface="TAN Headline"/>
              </a:rPr>
              <a:t>PROPUESTA DE VALOR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084179" y="5399806"/>
            <a:ext cx="10119642" cy="286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7034" indent="-293517" lvl="1">
              <a:lnSpc>
                <a:spcPts val="3262"/>
              </a:lnSpc>
              <a:buFont typeface="Arial"/>
              <a:buChar char="•"/>
            </a:pPr>
            <a:r>
              <a:rPr lang="en-US" sz="2719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MVP con 4 módul</a:t>
            </a:r>
            <a:r>
              <a:rPr lang="en-US" sz="2719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os núcleo: gestión de alumnos, asistencia, progreso/objetivos, evaluaciones.</a:t>
            </a:r>
          </a:p>
          <a:p>
            <a:pPr algn="ctr">
              <a:lnSpc>
                <a:spcPts val="3262"/>
              </a:lnSpc>
            </a:pPr>
          </a:p>
          <a:p>
            <a:pPr algn="ctr" marL="587034" indent="-293517" lvl="1">
              <a:lnSpc>
                <a:spcPts val="3262"/>
              </a:lnSpc>
              <a:buFont typeface="Arial"/>
              <a:buChar char="•"/>
            </a:pPr>
            <a:r>
              <a:rPr lang="en-US" sz="2719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Diferencial: incorpora un registro de práctica personal (inspirado en apps de journaling como Catzy) donde el alumno documenta sus sesiones — algo que ni el método actual ni los LMS genéricos ofrecen.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111" r="0" b="-21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21989" y="2266830"/>
            <a:ext cx="11367124" cy="10519756"/>
          </a:xfrm>
          <a:custGeom>
            <a:avLst/>
            <a:gdLst/>
            <a:ahLst/>
            <a:cxnLst/>
            <a:rect r="r" b="b" t="t" l="l"/>
            <a:pathLst>
              <a:path h="10519756" w="11367124">
                <a:moveTo>
                  <a:pt x="0" y="0"/>
                </a:moveTo>
                <a:lnTo>
                  <a:pt x="11367123" y="0"/>
                </a:lnTo>
                <a:lnTo>
                  <a:pt x="11367123" y="10519756"/>
                </a:lnTo>
                <a:lnTo>
                  <a:pt x="0" y="10519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965102" y="-2428049"/>
            <a:ext cx="11367124" cy="10519756"/>
          </a:xfrm>
          <a:custGeom>
            <a:avLst/>
            <a:gdLst/>
            <a:ahLst/>
            <a:cxnLst/>
            <a:rect r="r" b="b" t="t" l="l"/>
            <a:pathLst>
              <a:path h="10519756" w="11367124">
                <a:moveTo>
                  <a:pt x="11367123" y="10519756"/>
                </a:moveTo>
                <a:lnTo>
                  <a:pt x="0" y="10519756"/>
                </a:lnTo>
                <a:lnTo>
                  <a:pt x="0" y="0"/>
                </a:lnTo>
                <a:lnTo>
                  <a:pt x="11367123" y="0"/>
                </a:lnTo>
                <a:lnTo>
                  <a:pt x="11367123" y="1051975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28554" y="6185142"/>
            <a:ext cx="7392329" cy="7392329"/>
          </a:xfrm>
          <a:custGeom>
            <a:avLst/>
            <a:gdLst/>
            <a:ahLst/>
            <a:cxnLst/>
            <a:rect r="r" b="b" t="t" l="l"/>
            <a:pathLst>
              <a:path h="7392329" w="7392329">
                <a:moveTo>
                  <a:pt x="0" y="0"/>
                </a:moveTo>
                <a:lnTo>
                  <a:pt x="7392330" y="0"/>
                </a:lnTo>
                <a:lnTo>
                  <a:pt x="7392330" y="7392330"/>
                </a:lnTo>
                <a:lnTo>
                  <a:pt x="0" y="73923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329707" y="1028700"/>
            <a:ext cx="13628587" cy="8229600"/>
            <a:chOff x="0" y="0"/>
            <a:chExt cx="18171449" cy="109728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8171449" cy="10972800"/>
              <a:chOff x="0" y="0"/>
              <a:chExt cx="3589422" cy="216746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589422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3589422">
                    <a:moveTo>
                      <a:pt x="28403" y="0"/>
                    </a:moveTo>
                    <a:lnTo>
                      <a:pt x="3561019" y="0"/>
                    </a:lnTo>
                    <a:cubicBezTo>
                      <a:pt x="3576705" y="0"/>
                      <a:pt x="3589422" y="12717"/>
                      <a:pt x="3589422" y="28403"/>
                    </a:cubicBezTo>
                    <a:lnTo>
                      <a:pt x="3589422" y="2139063"/>
                    </a:lnTo>
                    <a:cubicBezTo>
                      <a:pt x="3589422" y="2154750"/>
                      <a:pt x="3576705" y="2167467"/>
                      <a:pt x="3561019" y="2167467"/>
                    </a:cubicBezTo>
                    <a:lnTo>
                      <a:pt x="28403" y="2167467"/>
                    </a:lnTo>
                    <a:cubicBezTo>
                      <a:pt x="12717" y="2167467"/>
                      <a:pt x="0" y="2154750"/>
                      <a:pt x="0" y="2139063"/>
                    </a:cubicBezTo>
                    <a:lnTo>
                      <a:pt x="0" y="28403"/>
                    </a:lnTo>
                    <a:cubicBezTo>
                      <a:pt x="0" y="12717"/>
                      <a:pt x="12717" y="0"/>
                      <a:pt x="28403" y="0"/>
                    </a:cubicBezTo>
                    <a:close/>
                  </a:path>
                </a:pathLst>
              </a:custGeom>
              <a:solidFill>
                <a:srgbClr val="FFF9E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95250"/>
                <a:ext cx="3589422" cy="2262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3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34339" y="141464"/>
              <a:ext cx="17902771" cy="10689872"/>
              <a:chOff x="0" y="0"/>
              <a:chExt cx="3536350" cy="211158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536350" cy="2111580"/>
              </a:xfrm>
              <a:custGeom>
                <a:avLst/>
                <a:gdLst/>
                <a:ahLst/>
                <a:cxnLst/>
                <a:rect r="r" b="b" t="t" l="l"/>
                <a:pathLst>
                  <a:path h="2111580" w="3536350">
                    <a:moveTo>
                      <a:pt x="28830" y="0"/>
                    </a:moveTo>
                    <a:lnTo>
                      <a:pt x="3507520" y="0"/>
                    </a:lnTo>
                    <a:cubicBezTo>
                      <a:pt x="3523442" y="0"/>
                      <a:pt x="3536350" y="12907"/>
                      <a:pt x="3536350" y="28830"/>
                    </a:cubicBezTo>
                    <a:lnTo>
                      <a:pt x="3536350" y="2082750"/>
                    </a:lnTo>
                    <a:cubicBezTo>
                      <a:pt x="3536350" y="2090396"/>
                      <a:pt x="3533312" y="2097729"/>
                      <a:pt x="3527906" y="2103136"/>
                    </a:cubicBezTo>
                    <a:cubicBezTo>
                      <a:pt x="3522499" y="2108542"/>
                      <a:pt x="3515166" y="2111580"/>
                      <a:pt x="3507520" y="2111580"/>
                    </a:cubicBezTo>
                    <a:lnTo>
                      <a:pt x="28830" y="2111580"/>
                    </a:lnTo>
                    <a:cubicBezTo>
                      <a:pt x="21183" y="2111580"/>
                      <a:pt x="13851" y="2108542"/>
                      <a:pt x="8444" y="2103136"/>
                    </a:cubicBezTo>
                    <a:cubicBezTo>
                      <a:pt x="3037" y="2097729"/>
                      <a:pt x="0" y="2090396"/>
                      <a:pt x="0" y="2082750"/>
                    </a:cubicBezTo>
                    <a:lnTo>
                      <a:pt x="0" y="28830"/>
                    </a:lnTo>
                    <a:cubicBezTo>
                      <a:pt x="0" y="21183"/>
                      <a:pt x="3037" y="13851"/>
                      <a:pt x="8444" y="8444"/>
                    </a:cubicBezTo>
                    <a:cubicBezTo>
                      <a:pt x="13851" y="3037"/>
                      <a:pt x="21183" y="0"/>
                      <a:pt x="28830" y="0"/>
                    </a:cubicBezTo>
                    <a:close/>
                  </a:path>
                </a:pathLst>
              </a:custGeom>
              <a:ln w="19050" cap="rnd">
                <a:solidFill>
                  <a:srgbClr val="4C3F1F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0"/>
                <a:ext cx="3536350" cy="2206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3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2866121" y="3105603"/>
            <a:ext cx="583497" cy="633363"/>
          </a:xfrm>
          <a:custGeom>
            <a:avLst/>
            <a:gdLst/>
            <a:ahLst/>
            <a:cxnLst/>
            <a:rect r="r" b="b" t="t" l="l"/>
            <a:pathLst>
              <a:path h="633363" w="583497">
                <a:moveTo>
                  <a:pt x="0" y="0"/>
                </a:moveTo>
                <a:lnTo>
                  <a:pt x="583498" y="0"/>
                </a:lnTo>
                <a:lnTo>
                  <a:pt x="583498" y="633364"/>
                </a:lnTo>
                <a:lnTo>
                  <a:pt x="0" y="6333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838381" y="3105603"/>
            <a:ext cx="583497" cy="633363"/>
          </a:xfrm>
          <a:custGeom>
            <a:avLst/>
            <a:gdLst/>
            <a:ahLst/>
            <a:cxnLst/>
            <a:rect r="r" b="b" t="t" l="l"/>
            <a:pathLst>
              <a:path h="633363" w="583497">
                <a:moveTo>
                  <a:pt x="0" y="0"/>
                </a:moveTo>
                <a:lnTo>
                  <a:pt x="583498" y="0"/>
                </a:lnTo>
                <a:lnTo>
                  <a:pt x="583498" y="633364"/>
                </a:lnTo>
                <a:lnTo>
                  <a:pt x="0" y="6333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926162" y="3066815"/>
            <a:ext cx="4340427" cy="1420503"/>
          </a:xfrm>
          <a:custGeom>
            <a:avLst/>
            <a:gdLst/>
            <a:ahLst/>
            <a:cxnLst/>
            <a:rect r="r" b="b" t="t" l="l"/>
            <a:pathLst>
              <a:path h="1420503" w="4340427">
                <a:moveTo>
                  <a:pt x="0" y="0"/>
                </a:moveTo>
                <a:lnTo>
                  <a:pt x="4340426" y="0"/>
                </a:lnTo>
                <a:lnTo>
                  <a:pt x="4340426" y="1420503"/>
                </a:lnTo>
                <a:lnTo>
                  <a:pt x="0" y="14205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071428" y="4904718"/>
            <a:ext cx="12145144" cy="3685057"/>
            <a:chOff x="0" y="0"/>
            <a:chExt cx="3198721" cy="9705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98721" cy="970550"/>
            </a:xfrm>
            <a:custGeom>
              <a:avLst/>
              <a:gdLst/>
              <a:ahLst/>
              <a:cxnLst/>
              <a:rect r="r" b="b" t="t" l="l"/>
              <a:pathLst>
                <a:path h="970550" w="3198721">
                  <a:moveTo>
                    <a:pt x="21036" y="0"/>
                  </a:moveTo>
                  <a:lnTo>
                    <a:pt x="3177685" y="0"/>
                  </a:lnTo>
                  <a:cubicBezTo>
                    <a:pt x="3189303" y="0"/>
                    <a:pt x="3198721" y="9418"/>
                    <a:pt x="3198721" y="21036"/>
                  </a:cubicBezTo>
                  <a:lnTo>
                    <a:pt x="3198721" y="949514"/>
                  </a:lnTo>
                  <a:cubicBezTo>
                    <a:pt x="3198721" y="955093"/>
                    <a:pt x="3196505" y="960444"/>
                    <a:pt x="3192560" y="964389"/>
                  </a:cubicBezTo>
                  <a:cubicBezTo>
                    <a:pt x="3188615" y="968334"/>
                    <a:pt x="3183264" y="970550"/>
                    <a:pt x="3177685" y="970550"/>
                  </a:cubicBezTo>
                  <a:lnTo>
                    <a:pt x="21036" y="970550"/>
                  </a:lnTo>
                  <a:cubicBezTo>
                    <a:pt x="9418" y="970550"/>
                    <a:pt x="0" y="961132"/>
                    <a:pt x="0" y="949514"/>
                  </a:cubicBezTo>
                  <a:lnTo>
                    <a:pt x="0" y="21036"/>
                  </a:lnTo>
                  <a:cubicBezTo>
                    <a:pt x="0" y="9418"/>
                    <a:pt x="9418" y="0"/>
                    <a:pt x="21036" y="0"/>
                  </a:cubicBezTo>
                  <a:close/>
                </a:path>
              </a:pathLst>
            </a:custGeom>
            <a:solidFill>
              <a:srgbClr val="4C3F1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3198721" cy="1065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3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-3925342" y="6185142"/>
            <a:ext cx="6791463" cy="6791463"/>
          </a:xfrm>
          <a:custGeom>
            <a:avLst/>
            <a:gdLst/>
            <a:ahLst/>
            <a:cxnLst/>
            <a:rect r="r" b="b" t="t" l="l"/>
            <a:pathLst>
              <a:path h="6791463" w="6791463">
                <a:moveTo>
                  <a:pt x="0" y="0"/>
                </a:moveTo>
                <a:lnTo>
                  <a:pt x="6791463" y="0"/>
                </a:lnTo>
                <a:lnTo>
                  <a:pt x="6791463" y="6791464"/>
                </a:lnTo>
                <a:lnTo>
                  <a:pt x="0" y="679146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4292354" y="-2773618"/>
            <a:ext cx="7158475" cy="5089025"/>
          </a:xfrm>
          <a:custGeom>
            <a:avLst/>
            <a:gdLst/>
            <a:ahLst/>
            <a:cxnLst/>
            <a:rect r="r" b="b" t="t" l="l"/>
            <a:pathLst>
              <a:path h="5089025" w="7158475">
                <a:moveTo>
                  <a:pt x="0" y="0"/>
                </a:moveTo>
                <a:lnTo>
                  <a:pt x="7158475" y="0"/>
                </a:lnTo>
                <a:lnTo>
                  <a:pt x="7158475" y="5089025"/>
                </a:lnTo>
                <a:lnTo>
                  <a:pt x="0" y="50890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328554" y="-1453169"/>
            <a:ext cx="5615732" cy="4114800"/>
          </a:xfrm>
          <a:custGeom>
            <a:avLst/>
            <a:gdLst/>
            <a:ahLst/>
            <a:cxnLst/>
            <a:rect r="r" b="b" t="t" l="l"/>
            <a:pathLst>
              <a:path h="4114800" w="5615732">
                <a:moveTo>
                  <a:pt x="0" y="0"/>
                </a:moveTo>
                <a:lnTo>
                  <a:pt x="5615732" y="0"/>
                </a:lnTo>
                <a:lnTo>
                  <a:pt x="56157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792169" y="2566381"/>
            <a:ext cx="10703662" cy="1668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spc="-268">
                <a:solidFill>
                  <a:srgbClr val="4C3F1F"/>
                </a:solidFill>
                <a:latin typeface="TAN Headline"/>
                <a:ea typeface="TAN Headline"/>
                <a:cs typeface="TAN Headline"/>
                <a:sym typeface="TAN Headline"/>
              </a:rPr>
              <a:t>V</a:t>
            </a:r>
            <a:r>
              <a:rPr lang="en-US" sz="4800" spc="-268">
                <a:solidFill>
                  <a:srgbClr val="4C3F1F"/>
                </a:solidFill>
                <a:latin typeface="TAN Headline"/>
                <a:ea typeface="TAN Headline"/>
                <a:cs typeface="TAN Headline"/>
                <a:sym typeface="TAN Headline"/>
              </a:rPr>
              <a:t>IABILIDAD Y MOTIVACIÓN PROFESIONAL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71428" y="5106834"/>
            <a:ext cx="11972260" cy="3669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7034" indent="-293517" lvl="1">
              <a:lnSpc>
                <a:spcPts val="3262"/>
              </a:lnSpc>
              <a:buFont typeface="Arial"/>
              <a:buChar char="•"/>
            </a:pPr>
            <a:r>
              <a:rPr lang="en-US" sz="2719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Integra las 5 competencias del</a:t>
            </a:r>
            <a:r>
              <a:rPr lang="en-US" sz="2719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perfil de egreso (pruebas de calidad, gestión de proyectos, modelos de datos, desarrollo de software, comunicación en inglés).</a:t>
            </a:r>
          </a:p>
          <a:p>
            <a:pPr algn="ctr">
              <a:lnSpc>
                <a:spcPts val="3262"/>
              </a:lnSpc>
            </a:pPr>
          </a:p>
          <a:p>
            <a:pPr algn="ctr" marL="587034" indent="-293517" lvl="1">
              <a:lnSpc>
                <a:spcPts val="3262"/>
              </a:lnSpc>
              <a:buFont typeface="Arial"/>
              <a:buChar char="•"/>
            </a:pPr>
            <a:r>
              <a:rPr lang="en-US" sz="2719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</a:t>
            </a:r>
            <a:r>
              <a:rPr lang="en-US" sz="2719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ecta con tu interés profesional en QA/Testing: la competencia C1 (pruebas de certificación) es el eje que más te motiva desarrollar</a:t>
            </a:r>
          </a:p>
          <a:p>
            <a:pPr algn="ctr">
              <a:lnSpc>
                <a:spcPts val="3262"/>
              </a:lnSpc>
            </a:pPr>
          </a:p>
          <a:p>
            <a:pPr algn="ctr" marL="587034" indent="-293517" lvl="1">
              <a:lnSpc>
                <a:spcPts val="3262"/>
              </a:lnSpc>
              <a:buFont typeface="Arial"/>
              <a:buChar char="•"/>
            </a:pPr>
            <a:r>
              <a:rPr lang="en-US" sz="2719">
                <a:solidFill>
                  <a:srgbClr val="FFF9E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Factible en las 18 semanas del semestre, con tecnología web estándar y sin dependencias externas críticas.</a:t>
            </a:r>
          </a:p>
          <a:p>
            <a:pPr algn="ctr">
              <a:lnSpc>
                <a:spcPts val="3262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111" r="0" b="-21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8642839" y="-2871284"/>
            <a:ext cx="11367124" cy="10519756"/>
          </a:xfrm>
          <a:custGeom>
            <a:avLst/>
            <a:gdLst/>
            <a:ahLst/>
            <a:cxnLst/>
            <a:rect r="r" b="b" t="t" l="l"/>
            <a:pathLst>
              <a:path h="10519756" w="11367124">
                <a:moveTo>
                  <a:pt x="0" y="10519757"/>
                </a:moveTo>
                <a:lnTo>
                  <a:pt x="11367124" y="10519757"/>
                </a:lnTo>
                <a:lnTo>
                  <a:pt x="11367124" y="0"/>
                </a:lnTo>
                <a:lnTo>
                  <a:pt x="0" y="0"/>
                </a:lnTo>
                <a:lnTo>
                  <a:pt x="0" y="1051975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107482" y="2388595"/>
            <a:ext cx="11367124" cy="10519756"/>
          </a:xfrm>
          <a:custGeom>
            <a:avLst/>
            <a:gdLst/>
            <a:ahLst/>
            <a:cxnLst/>
            <a:rect r="r" b="b" t="t" l="l"/>
            <a:pathLst>
              <a:path h="10519756" w="11367124">
                <a:moveTo>
                  <a:pt x="11367123" y="0"/>
                </a:moveTo>
                <a:lnTo>
                  <a:pt x="0" y="0"/>
                </a:lnTo>
                <a:lnTo>
                  <a:pt x="0" y="10519756"/>
                </a:lnTo>
                <a:lnTo>
                  <a:pt x="11367123" y="10519756"/>
                </a:lnTo>
                <a:lnTo>
                  <a:pt x="1136712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846928" y="5675382"/>
            <a:ext cx="5657328" cy="5657328"/>
          </a:xfrm>
          <a:custGeom>
            <a:avLst/>
            <a:gdLst/>
            <a:ahLst/>
            <a:cxnLst/>
            <a:rect r="r" b="b" t="t" l="l"/>
            <a:pathLst>
              <a:path h="5657328" w="5657328">
                <a:moveTo>
                  <a:pt x="0" y="0"/>
                </a:moveTo>
                <a:lnTo>
                  <a:pt x="5657328" y="0"/>
                </a:lnTo>
                <a:lnTo>
                  <a:pt x="5657328" y="5657329"/>
                </a:lnTo>
                <a:lnTo>
                  <a:pt x="0" y="56573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70181" y="-760536"/>
            <a:ext cx="5300619" cy="5300619"/>
          </a:xfrm>
          <a:custGeom>
            <a:avLst/>
            <a:gdLst/>
            <a:ahLst/>
            <a:cxnLst/>
            <a:rect r="r" b="b" t="t" l="l"/>
            <a:pathLst>
              <a:path h="5300619" w="5300619">
                <a:moveTo>
                  <a:pt x="0" y="0"/>
                </a:moveTo>
                <a:lnTo>
                  <a:pt x="5300619" y="0"/>
                </a:lnTo>
                <a:lnTo>
                  <a:pt x="5300619" y="5300619"/>
                </a:lnTo>
                <a:lnTo>
                  <a:pt x="0" y="53006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47401">
            <a:off x="1028700" y="1028700"/>
            <a:ext cx="16230600" cy="8229600"/>
            <a:chOff x="0" y="0"/>
            <a:chExt cx="21640800" cy="109728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1640800" cy="10972800"/>
              <a:chOff x="0" y="0"/>
              <a:chExt cx="4274726" cy="216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2137363" y="0"/>
                    </a:moveTo>
                    <a:cubicBezTo>
                      <a:pt x="956930" y="0"/>
                      <a:pt x="0" y="485204"/>
                      <a:pt x="0" y="1083733"/>
                    </a:cubicBezTo>
                    <a:cubicBezTo>
                      <a:pt x="0" y="1682263"/>
                      <a:pt x="956930" y="2167467"/>
                      <a:pt x="2137363" y="2167467"/>
                    </a:cubicBezTo>
                    <a:cubicBezTo>
                      <a:pt x="3317796" y="2167467"/>
                      <a:pt x="4274726" y="1682263"/>
                      <a:pt x="4274726" y="1083733"/>
                    </a:cubicBezTo>
                    <a:cubicBezTo>
                      <a:pt x="4274726" y="485204"/>
                      <a:pt x="3317796" y="0"/>
                      <a:pt x="2137363" y="0"/>
                    </a:cubicBezTo>
                    <a:close/>
                  </a:path>
                </a:pathLst>
              </a:custGeom>
              <a:solidFill>
                <a:srgbClr val="FFF9E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400756" y="165100"/>
                <a:ext cx="3473215" cy="17991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79197" y="201353"/>
              <a:ext cx="21308043" cy="10570095"/>
              <a:chOff x="0" y="0"/>
              <a:chExt cx="4369353" cy="216746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369353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369353">
                    <a:moveTo>
                      <a:pt x="2184677" y="0"/>
                    </a:moveTo>
                    <a:cubicBezTo>
                      <a:pt x="978113" y="0"/>
                      <a:pt x="0" y="485204"/>
                      <a:pt x="0" y="1083733"/>
                    </a:cubicBezTo>
                    <a:cubicBezTo>
                      <a:pt x="0" y="1682263"/>
                      <a:pt x="978113" y="2167467"/>
                      <a:pt x="2184677" y="2167467"/>
                    </a:cubicBezTo>
                    <a:cubicBezTo>
                      <a:pt x="3391240" y="2167467"/>
                      <a:pt x="4369353" y="1682263"/>
                      <a:pt x="4369353" y="1083733"/>
                    </a:cubicBezTo>
                    <a:cubicBezTo>
                      <a:pt x="4369353" y="485204"/>
                      <a:pt x="3391240" y="0"/>
                      <a:pt x="2184677" y="0"/>
                    </a:cubicBezTo>
                    <a:close/>
                  </a:path>
                </a:pathLst>
              </a:custGeom>
              <a:ln w="19050" cap="sq">
                <a:solidFill>
                  <a:srgbClr val="4C3F1F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409627" y="165100"/>
                <a:ext cx="3550099" cy="17991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4" id="14"/>
          <p:cNvSpPr txBox="true"/>
          <p:nvPr/>
        </p:nvSpPr>
        <p:spPr>
          <a:xfrm rot="0">
            <a:off x="7567500" y="1450983"/>
            <a:ext cx="3686959" cy="3539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38"/>
              </a:lnSpc>
            </a:pPr>
            <a:r>
              <a:rPr lang="en-US" sz="20670" spc="-1157">
                <a:solidFill>
                  <a:srgbClr val="4C3F1F"/>
                </a:solidFill>
                <a:latin typeface="TAN Headline"/>
                <a:ea typeface="TAN Headline"/>
                <a:cs typeface="TAN Headline"/>
                <a:sym typeface="TAN Headline"/>
              </a:rPr>
              <a:t>^^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087993" y="6344149"/>
            <a:ext cx="6791463" cy="6791463"/>
          </a:xfrm>
          <a:custGeom>
            <a:avLst/>
            <a:gdLst/>
            <a:ahLst/>
            <a:cxnLst/>
            <a:rect r="r" b="b" t="t" l="l"/>
            <a:pathLst>
              <a:path h="6791463" w="6791463">
                <a:moveTo>
                  <a:pt x="0" y="0"/>
                </a:moveTo>
                <a:lnTo>
                  <a:pt x="6791464" y="0"/>
                </a:lnTo>
                <a:lnTo>
                  <a:pt x="6791464" y="6791464"/>
                </a:lnTo>
                <a:lnTo>
                  <a:pt x="0" y="67914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405148">
            <a:off x="-1367585" y="-2308322"/>
            <a:ext cx="7158475" cy="5089025"/>
          </a:xfrm>
          <a:custGeom>
            <a:avLst/>
            <a:gdLst/>
            <a:ahLst/>
            <a:cxnLst/>
            <a:rect r="r" b="b" t="t" l="l"/>
            <a:pathLst>
              <a:path h="5089025" w="7158475">
                <a:moveTo>
                  <a:pt x="0" y="0"/>
                </a:moveTo>
                <a:lnTo>
                  <a:pt x="7158475" y="0"/>
                </a:lnTo>
                <a:lnTo>
                  <a:pt x="7158475" y="5089025"/>
                </a:lnTo>
                <a:lnTo>
                  <a:pt x="0" y="50890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160476" y="4274665"/>
            <a:ext cx="5482363" cy="1794228"/>
          </a:xfrm>
          <a:custGeom>
            <a:avLst/>
            <a:gdLst/>
            <a:ahLst/>
            <a:cxnLst/>
            <a:rect r="r" b="b" t="t" l="l"/>
            <a:pathLst>
              <a:path h="1794228" w="5482363">
                <a:moveTo>
                  <a:pt x="0" y="0"/>
                </a:moveTo>
                <a:lnTo>
                  <a:pt x="5482363" y="0"/>
                </a:lnTo>
                <a:lnTo>
                  <a:pt x="5482363" y="1794228"/>
                </a:lnTo>
                <a:lnTo>
                  <a:pt x="0" y="179422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86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505617" y="3521848"/>
            <a:ext cx="1014874" cy="1101605"/>
          </a:xfrm>
          <a:custGeom>
            <a:avLst/>
            <a:gdLst/>
            <a:ahLst/>
            <a:cxnLst/>
            <a:rect r="r" b="b" t="t" l="l"/>
            <a:pathLst>
              <a:path h="1101605" w="1014874">
                <a:moveTo>
                  <a:pt x="0" y="0"/>
                </a:moveTo>
                <a:lnTo>
                  <a:pt x="1014874" y="0"/>
                </a:lnTo>
                <a:lnTo>
                  <a:pt x="1014874" y="1101605"/>
                </a:lnTo>
                <a:lnTo>
                  <a:pt x="0" y="110160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534582" y="4553875"/>
            <a:ext cx="11218837" cy="112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86"/>
              </a:lnSpc>
            </a:pPr>
            <a:r>
              <a:rPr lang="en-US" sz="6632" spc="-371">
                <a:solidFill>
                  <a:srgbClr val="4C3F1F"/>
                </a:solidFill>
                <a:latin typeface="TAN Headline"/>
                <a:ea typeface="TAN Headline"/>
                <a:cs typeface="TAN Headline"/>
                <a:sym typeface="TAN Headline"/>
              </a:rPr>
              <a:t>GRACIAS / PREGUNTAS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981736" y="5451384"/>
            <a:ext cx="929113" cy="1008515"/>
          </a:xfrm>
          <a:custGeom>
            <a:avLst/>
            <a:gdLst/>
            <a:ahLst/>
            <a:cxnLst/>
            <a:rect r="r" b="b" t="t" l="l"/>
            <a:pathLst>
              <a:path h="1008515" w="929113">
                <a:moveTo>
                  <a:pt x="0" y="0"/>
                </a:moveTo>
                <a:lnTo>
                  <a:pt x="929113" y="0"/>
                </a:lnTo>
                <a:lnTo>
                  <a:pt x="929113" y="1008515"/>
                </a:lnTo>
                <a:lnTo>
                  <a:pt x="0" y="100851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DAHVdqHLu9g</dc:identifier>
  <dcterms:modified xsi:type="dcterms:W3CDTF">2011-08-01T06:04:30Z</dcterms:modified>
  <cp:revision>1</cp:revision>
  <dc:title>Proyecto Capstone v.1</dc:title>
</cp:coreProperties>
</file>