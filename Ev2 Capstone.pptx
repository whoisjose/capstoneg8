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ebas Neue" charset="1" panose="00000500000000000000"/>
      <p:regular r:id="rId14"/>
    </p:embeddedFont>
    <p:embeddedFont>
      <p:font typeface="Gochi Hand" charset="1" panose="00000000000000000000"/>
      <p:regular r:id="rId15"/>
    </p:embeddedFont>
    <p:embeddedFont>
      <p:font typeface="Bebas Neue Bold" charset="1" panose="020B0606020202050201"/>
      <p:regular r:id="rId19"/>
    </p:embeddedFont>
    <p:embeddedFont>
      <p:font typeface="Poppins" charset="1" panose="00000500000000000000"/>
      <p:regular r:id="rId20"/>
    </p:embeddedFont>
    <p:embeddedFont>
      <p:font typeface="Open Sans Bold" charset="1" panose="020B0806030504020204"/>
      <p:regular r:id="rId21"/>
    </p:embeddedFont>
    <p:embeddedFont>
      <p:font typeface="Open Sans" charset="1" panose="020B0606030504020204"/>
      <p:regular r:id="rId22"/>
    </p:embeddedFont>
    <p:embeddedFont>
      <p:font typeface="Roboto Italics" charset="1" panose="02000000000000000000"/>
      <p:regular r:id="rId25"/>
    </p:embeddedFont>
    <p:embeddedFont>
      <p:font typeface="Roboto" charset="1" panose="02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proyecto consiste en el desarrollo de una plataforma web orientada</a:t>
            </a:r>
          </a:p>
          <a:p>
            <a:r>
              <a:rPr lang="en-US"/>
              <a:t>&gt; a la gestión de talleres de canto independientes. La necesidad</a:t>
            </a:r>
          </a:p>
          <a:p>
            <a:r>
              <a:rPr lang="en-US"/>
              <a:t>&gt; identificada corresponde principalmente a la centralización de</a:t>
            </a:r>
          </a:p>
          <a:p>
            <a:r>
              <a:rPr lang="en-US"/>
              <a:t>&gt; información relacionada con los alumnos, las clases y su asistencia,</a:t>
            </a:r>
          </a:p>
          <a:p>
            <a:r>
              <a:rPr lang="en-US"/>
              <a:t>&gt; evitando depender de registros distribuidos en distintos medios. Para</a:t>
            </a:r>
          </a:p>
          <a:p>
            <a:r>
              <a:rPr lang="en-US"/>
              <a:t>&gt; este avance, el objetivo principal fue desarrollar una primera versión</a:t>
            </a:r>
          </a:p>
          <a:p>
            <a:r>
              <a:rPr lang="en-US"/>
              <a:t>&gt; funcional que permitiera gestionar alumnos y registrar su</a:t>
            </a:r>
          </a:p>
          <a:p>
            <a:r>
              <a:rPr lang="en-US"/>
              <a:t> participación en las clases.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&gt; Actualmente contamos con una primera versión funcional de la</a:t>
            </a:r>
          </a:p>
          <a:p>
            <a:r>
              <a:rPr lang="en-US"/>
              <a:t>&gt; plataforma. El módulo de gestión de alumnos permite registrar y</a:t>
            </a:r>
          </a:p>
          <a:p>
            <a:r>
              <a:rPr lang="en-US"/>
              <a:t>&gt; consultar información de los estudiantes, además de acceder a una</a:t>
            </a:r>
          </a:p>
          <a:p>
            <a:r>
              <a:rPr lang="en-US"/>
              <a:t>&gt; ficha individual. También se encuentra implementado el registro de</a:t>
            </a:r>
          </a:p>
          <a:p>
            <a:r>
              <a:rPr lang="en-US"/>
              <a:t>&gt; clases y el control de asistencia, permitiendo posteriormente</a:t>
            </a:r>
          </a:p>
          <a:p>
            <a:r>
              <a:rPr lang="en-US"/>
              <a:t>&gt; consultar el historial asociado a cada alumno. En cuanto a las</a:t>
            </a:r>
          </a:p>
          <a:p>
            <a:r>
              <a:rPr lang="en-US"/>
              <a:t>&gt; funcionalidades que todavía no forman parte de esta versión, se</a:t>
            </a:r>
          </a:p>
          <a:p>
            <a:r>
              <a:rPr lang="en-US"/>
              <a:t>&gt; encuentran el seguimiento de objetivos y las evaluaciones, las cuales</a:t>
            </a:r>
          </a:p>
          <a:p>
            <a:r>
              <a:rPr lang="en-US"/>
              <a:t>&gt; corresponden a etapas posteriores del desarrollo.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&gt; Durante el desarrollo fue necesario ajustar la priorización de</a:t>
            </a:r>
          </a:p>
          <a:p>
            <a:r>
              <a:rPr lang="en-US"/>
              <a:t>&gt; funcionalidades debido principalmente al tiempo disponible para esta</a:t>
            </a:r>
          </a:p>
          <a:p>
            <a:r>
              <a:rPr lang="en-US"/>
              <a:t>&gt; etapa. En lugar de intentar implementar todos los componentes</a:t>
            </a:r>
          </a:p>
          <a:p>
            <a:r>
              <a:rPr lang="en-US"/>
              <a:t>&gt; definidos inicialmente, se priorizaron aquellas funcionalidades que</a:t>
            </a:r>
          </a:p>
          <a:p>
            <a:r>
              <a:rPr lang="en-US"/>
              <a:t>&gt; constituyen la base de la plataforma: la gestión de alumnos, las</a:t>
            </a:r>
          </a:p>
          <a:p>
            <a:r>
              <a:rPr lang="en-US"/>
              <a:t>&gt; clases y la asistencia. Esta decisión permitió concentrar el</a:t>
            </a:r>
          </a:p>
          <a:p>
            <a:r>
              <a:rPr lang="en-US"/>
              <a:t>&gt; desarrollo en un flujo funcional y verificable, dejando las</a:t>
            </a:r>
          </a:p>
          <a:p>
            <a:r>
              <a:rPr lang="en-US"/>
              <a:t>&gt; funcionalidades de seguimiento y evaluación para una etapa posterior.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Para monitorear el avance se trabajó de manera incremental,</a:t>
            </a:r>
          </a:p>
          <a:p>
            <a:r>
              <a:rPr lang="en-US"/>
              <a:t>&gt; desarrollando primero los componentes que sirven como base para las</a:t>
            </a:r>
          </a:p>
          <a:p>
            <a:r>
              <a:rPr lang="en-US"/>
              <a:t>&gt; funcionalidades posteriores. Inicialmente se trabajó sobre los</a:t>
            </a:r>
          </a:p>
          <a:p>
            <a:r>
              <a:rPr lang="en-US"/>
              <a:t>&gt; requerimientos y el diseño de la solución. Posteriormente se</a:t>
            </a:r>
          </a:p>
          <a:p>
            <a:r>
              <a:rPr lang="en-US"/>
              <a:t>&gt; implementó el modelo de datos y los módulos principales de gestión de</a:t>
            </a:r>
          </a:p>
          <a:p>
            <a:r>
              <a:rPr lang="en-US"/>
              <a:t>&gt; alumnos, clases y asistencia. Actualmente el proyecto cuenta con estos</a:t>
            </a:r>
          </a:p>
          <a:p>
            <a:r>
              <a:rPr lang="en-US"/>
              <a:t>&gt; componentes funcionales, mientras que las siguientes iteraciones</a:t>
            </a:r>
          </a:p>
          <a:p>
            <a:r>
              <a:rPr lang="en-US"/>
              <a:t>&gt; estarán orientadas a ampliar las funcionalidades y realizar una</a:t>
            </a:r>
          </a:p>
          <a:p>
            <a:r>
              <a:rPr lang="en-US"/>
              <a:t>&gt; validación más completa de la solución.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 Desde el punto de vista técnico, la aplicación está desarrollada</a:t>
            </a:r>
          </a:p>
          <a:p>
            <a:r>
              <a:rPr lang="en-US"/>
              <a:t>&gt; utilizando Python y el framework Flask para la construcción de la</a:t>
            </a:r>
          </a:p>
          <a:p>
            <a:r>
              <a:rPr lang="en-US"/>
              <a:t>&gt; aplicación web, mientras que SQLite se utiliza como sistema de</a:t>
            </a:r>
          </a:p>
          <a:p>
            <a:r>
              <a:rPr lang="en-US"/>
              <a:t>&gt; persistencia de datos. El modelo considera principalmente las</a:t>
            </a:r>
          </a:p>
          <a:p>
            <a:r>
              <a:rPr lang="en-US"/>
              <a:t>&gt; entidades Alumno, Clase y Asistencia. La entidad de asistencia permite</a:t>
            </a:r>
          </a:p>
          <a:p>
            <a:r>
              <a:rPr lang="en-US"/>
              <a:t>&gt; relacionar a un alumno con una clase determinada y almacenar su estado</a:t>
            </a:r>
          </a:p>
          <a:p>
            <a:r>
              <a:rPr lang="en-US"/>
              <a:t>&gt; de participación. Esta estructura permite mantener la información</a:t>
            </a:r>
          </a:p>
          <a:p>
            <a:r>
              <a:rPr lang="en-US"/>
              <a:t>&gt; organizada y facilita posteriormente la incorporación de nuevas</a:t>
            </a:r>
          </a:p>
          <a:p>
            <a:r>
              <a:rPr lang="en-US"/>
              <a:t>&gt; funcionalidades sobre los mismos datos.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&gt; Como conclusión, el avance actual permite contar con una base</a:t>
            </a:r>
          </a:p>
          <a:p>
            <a:r>
              <a:rPr lang="en-US"/>
              <a:t>&gt; funcional para la gestión de alumnos, clases y asistencia. Los</a:t>
            </a:r>
          </a:p>
          <a:p>
            <a:r>
              <a:rPr lang="en-US"/>
              <a:t>&gt; siguientes pasos estarán orientados a incorporar las funcionalidades</a:t>
            </a:r>
          </a:p>
          <a:p>
            <a:r>
              <a:rPr lang="en-US"/>
              <a:t>&gt; que todavía se encuentran pendientes, principalmente el seguimiento de</a:t>
            </a:r>
          </a:p>
          <a:p>
            <a:r>
              <a:rPr lang="en-US"/>
              <a:t>&gt; objetivos y las evaluaciones, además de realizar pruebas y obtener</a:t>
            </a:r>
          </a:p>
          <a:p>
            <a:r>
              <a:rPr lang="en-US"/>
              <a:t>&gt; retroalimentación sobre la solución. De esta forma, el proyecto podrá</a:t>
            </a:r>
          </a:p>
          <a:p>
            <a:r>
              <a:rPr lang="en-US"/>
              <a:t>&gt; evolucionar desde la versión funcional desarrollada en esta etapa</a:t>
            </a:r>
          </a:p>
          <a:p>
            <a:r>
              <a:rPr lang="en-US"/>
              <a:t>&gt; hacia el MVP definido para el proyecto.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.pn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9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23917">
            <a:off x="-1777521" y="-557414"/>
            <a:ext cx="8476103" cy="3072587"/>
          </a:xfrm>
          <a:custGeom>
            <a:avLst/>
            <a:gdLst/>
            <a:ahLst/>
            <a:cxnLst/>
            <a:rect r="r" b="b" t="t" l="l"/>
            <a:pathLst>
              <a:path h="3072587" w="8476103">
                <a:moveTo>
                  <a:pt x="0" y="0"/>
                </a:moveTo>
                <a:lnTo>
                  <a:pt x="8476103" y="0"/>
                </a:lnTo>
                <a:lnTo>
                  <a:pt x="8476103" y="3072587"/>
                </a:lnTo>
                <a:lnTo>
                  <a:pt x="0" y="3072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884599">
            <a:off x="-1378648" y="-3146034"/>
            <a:ext cx="4165325" cy="9148467"/>
          </a:xfrm>
          <a:custGeom>
            <a:avLst/>
            <a:gdLst/>
            <a:ahLst/>
            <a:cxnLst/>
            <a:rect r="r" b="b" t="t" l="l"/>
            <a:pathLst>
              <a:path h="9148467" w="4165325">
                <a:moveTo>
                  <a:pt x="0" y="0"/>
                </a:moveTo>
                <a:lnTo>
                  <a:pt x="4165324" y="0"/>
                </a:lnTo>
                <a:lnTo>
                  <a:pt x="4165324" y="9148467"/>
                </a:lnTo>
                <a:lnTo>
                  <a:pt x="0" y="9148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173740">
            <a:off x="11397854" y="-641369"/>
            <a:ext cx="10568146" cy="4782086"/>
          </a:xfrm>
          <a:custGeom>
            <a:avLst/>
            <a:gdLst/>
            <a:ahLst/>
            <a:cxnLst/>
            <a:rect r="r" b="b" t="t" l="l"/>
            <a:pathLst>
              <a:path h="4782086" w="10568146">
                <a:moveTo>
                  <a:pt x="0" y="0"/>
                </a:moveTo>
                <a:lnTo>
                  <a:pt x="10568146" y="0"/>
                </a:lnTo>
                <a:lnTo>
                  <a:pt x="10568146" y="4782086"/>
                </a:lnTo>
                <a:lnTo>
                  <a:pt x="0" y="47820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735954">
            <a:off x="-3355704" y="6211513"/>
            <a:ext cx="10568146" cy="4782086"/>
          </a:xfrm>
          <a:custGeom>
            <a:avLst/>
            <a:gdLst/>
            <a:ahLst/>
            <a:cxnLst/>
            <a:rect r="r" b="b" t="t" l="l"/>
            <a:pathLst>
              <a:path h="4782086" w="10568146">
                <a:moveTo>
                  <a:pt x="10568146" y="0"/>
                </a:moveTo>
                <a:lnTo>
                  <a:pt x="0" y="0"/>
                </a:lnTo>
                <a:lnTo>
                  <a:pt x="0" y="4782086"/>
                </a:lnTo>
                <a:lnTo>
                  <a:pt x="10568146" y="4782086"/>
                </a:lnTo>
                <a:lnTo>
                  <a:pt x="10568146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23747">
            <a:off x="10160332" y="5008017"/>
            <a:ext cx="8768862" cy="7612322"/>
          </a:xfrm>
          <a:custGeom>
            <a:avLst/>
            <a:gdLst/>
            <a:ahLst/>
            <a:cxnLst/>
            <a:rect r="r" b="b" t="t" l="l"/>
            <a:pathLst>
              <a:path h="7612322" w="8768862">
                <a:moveTo>
                  <a:pt x="0" y="0"/>
                </a:moveTo>
                <a:lnTo>
                  <a:pt x="8768862" y="0"/>
                </a:lnTo>
                <a:lnTo>
                  <a:pt x="8768862" y="7612321"/>
                </a:lnTo>
                <a:lnTo>
                  <a:pt x="0" y="76123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749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84930">
            <a:off x="11718132" y="5835385"/>
            <a:ext cx="6766225" cy="7023934"/>
          </a:xfrm>
          <a:custGeom>
            <a:avLst/>
            <a:gdLst/>
            <a:ahLst/>
            <a:cxnLst/>
            <a:rect r="r" b="b" t="t" l="l"/>
            <a:pathLst>
              <a:path h="7023934" w="6766225">
                <a:moveTo>
                  <a:pt x="0" y="0"/>
                </a:moveTo>
                <a:lnTo>
                  <a:pt x="6766225" y="0"/>
                </a:lnTo>
                <a:lnTo>
                  <a:pt x="6766225" y="7023934"/>
                </a:lnTo>
                <a:lnTo>
                  <a:pt x="0" y="70239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75858" y="4182067"/>
            <a:ext cx="11736284" cy="153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99"/>
              </a:lnSpc>
            </a:pPr>
            <a:r>
              <a:rPr lang="en-US" sz="11499" spc="22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Taller independiente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10728103">
            <a:off x="6040128" y="2218370"/>
            <a:ext cx="6207744" cy="1381223"/>
          </a:xfrm>
          <a:custGeom>
            <a:avLst/>
            <a:gdLst/>
            <a:ahLst/>
            <a:cxnLst/>
            <a:rect r="r" b="b" t="t" l="l"/>
            <a:pathLst>
              <a:path h="1381223" w="6207744">
                <a:moveTo>
                  <a:pt x="0" y="0"/>
                </a:moveTo>
                <a:lnTo>
                  <a:pt x="6207744" y="0"/>
                </a:lnTo>
                <a:lnTo>
                  <a:pt x="6207744" y="1381223"/>
                </a:lnTo>
                <a:lnTo>
                  <a:pt x="0" y="1381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0642643">
            <a:off x="-2096991" y="7412951"/>
            <a:ext cx="6054753" cy="2036599"/>
          </a:xfrm>
          <a:custGeom>
            <a:avLst/>
            <a:gdLst/>
            <a:ahLst/>
            <a:cxnLst/>
            <a:rect r="r" b="b" t="t" l="l"/>
            <a:pathLst>
              <a:path h="2036599" w="6054753">
                <a:moveTo>
                  <a:pt x="0" y="0"/>
                </a:moveTo>
                <a:lnTo>
                  <a:pt x="6054754" y="0"/>
                </a:lnTo>
                <a:lnTo>
                  <a:pt x="6054754" y="2036599"/>
                </a:lnTo>
                <a:lnTo>
                  <a:pt x="0" y="20365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128266" y="643605"/>
            <a:ext cx="2928918" cy="3677865"/>
          </a:xfrm>
          <a:custGeom>
            <a:avLst/>
            <a:gdLst/>
            <a:ahLst/>
            <a:cxnLst/>
            <a:rect r="r" b="b" t="t" l="l"/>
            <a:pathLst>
              <a:path h="3677865" w="2928918">
                <a:moveTo>
                  <a:pt x="0" y="0"/>
                </a:moveTo>
                <a:lnTo>
                  <a:pt x="2928918" y="0"/>
                </a:lnTo>
                <a:lnTo>
                  <a:pt x="2928918" y="3677865"/>
                </a:lnTo>
                <a:lnTo>
                  <a:pt x="0" y="36778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92938" y="5390788"/>
            <a:ext cx="8502124" cy="174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38"/>
              </a:lnSpc>
            </a:pPr>
            <a:r>
              <a:rPr lang="en-US" sz="13038" spc="-651">
                <a:solidFill>
                  <a:srgbClr val="926E47"/>
                </a:solidFill>
                <a:latin typeface="Gochi Hand"/>
                <a:ea typeface="Gochi Hand"/>
                <a:cs typeface="Gochi Hand"/>
                <a:sym typeface="Gochi Hand"/>
              </a:rPr>
              <a:t>semana 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55811" y="2568262"/>
            <a:ext cx="5576378" cy="74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600" spc="72">
                <a:solidFill>
                  <a:srgbClr val="000000"/>
                </a:solidFill>
                <a:latin typeface="Gochi Hand"/>
                <a:ea typeface="Gochi Hand"/>
                <a:cs typeface="Gochi Hand"/>
                <a:sym typeface="Gochi Hand"/>
              </a:rPr>
              <a:t>Presentación de plataforma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92938" y="8045109"/>
            <a:ext cx="8502124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99"/>
              </a:lnSpc>
            </a:pPr>
            <a:r>
              <a:rPr lang="en-US" sz="5499" spc="-274">
                <a:solidFill>
                  <a:srgbClr val="926E47"/>
                </a:solidFill>
                <a:latin typeface="Gochi Hand"/>
                <a:ea typeface="Gochi Hand"/>
                <a:cs typeface="Gochi Hand"/>
                <a:sym typeface="Gochi Hand"/>
              </a:rPr>
              <a:t>José Soto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23640">
            <a:off x="1391745" y="-4968804"/>
            <a:ext cx="5461364" cy="11995009"/>
          </a:xfrm>
          <a:custGeom>
            <a:avLst/>
            <a:gdLst/>
            <a:ahLst/>
            <a:cxnLst/>
            <a:rect r="r" b="b" t="t" l="l"/>
            <a:pathLst>
              <a:path h="11995009" w="5461364">
                <a:moveTo>
                  <a:pt x="0" y="0"/>
                </a:moveTo>
                <a:lnTo>
                  <a:pt x="5461364" y="0"/>
                </a:lnTo>
                <a:lnTo>
                  <a:pt x="5461364" y="11995008"/>
                </a:lnTo>
                <a:lnTo>
                  <a:pt x="0" y="11995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476572">
            <a:off x="10663518" y="-867537"/>
            <a:ext cx="9185305" cy="7612322"/>
          </a:xfrm>
          <a:custGeom>
            <a:avLst/>
            <a:gdLst/>
            <a:ahLst/>
            <a:cxnLst/>
            <a:rect r="r" b="b" t="t" l="l"/>
            <a:pathLst>
              <a:path h="7612322" w="9185305">
                <a:moveTo>
                  <a:pt x="0" y="0"/>
                </a:moveTo>
                <a:lnTo>
                  <a:pt x="9185306" y="0"/>
                </a:lnTo>
                <a:lnTo>
                  <a:pt x="9185306" y="7612322"/>
                </a:lnTo>
                <a:lnTo>
                  <a:pt x="0" y="76123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2728295" y="-1261098"/>
            <a:ext cx="23104205" cy="4199722"/>
            <a:chOff x="0" y="0"/>
            <a:chExt cx="30805607" cy="5599629"/>
          </a:xfrm>
        </p:grpSpPr>
        <p:sp>
          <p:nvSpPr>
            <p:cNvPr name="Freeform 6" id="6"/>
            <p:cNvSpPr/>
            <p:nvPr/>
          </p:nvSpPr>
          <p:spPr>
            <a:xfrm flipH="true" flipV="false" rot="0">
              <a:off x="15358353" y="0"/>
              <a:ext cx="15447253" cy="5599629"/>
            </a:xfrm>
            <a:custGeom>
              <a:avLst/>
              <a:gdLst/>
              <a:ahLst/>
              <a:cxnLst/>
              <a:rect r="r" b="b" t="t" l="l"/>
              <a:pathLst>
                <a:path h="5599629" w="15447253">
                  <a:moveTo>
                    <a:pt x="15447254" y="0"/>
                  </a:moveTo>
                  <a:lnTo>
                    <a:pt x="0" y="0"/>
                  </a:lnTo>
                  <a:lnTo>
                    <a:pt x="0" y="5599629"/>
                  </a:lnTo>
                  <a:lnTo>
                    <a:pt x="15447254" y="5599629"/>
                  </a:lnTo>
                  <a:lnTo>
                    <a:pt x="15447254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47253" cy="5599629"/>
            </a:xfrm>
            <a:custGeom>
              <a:avLst/>
              <a:gdLst/>
              <a:ahLst/>
              <a:cxnLst/>
              <a:rect r="r" b="b" t="t" l="l"/>
              <a:pathLst>
                <a:path h="5599629" w="15447253">
                  <a:moveTo>
                    <a:pt x="0" y="0"/>
                  </a:moveTo>
                  <a:lnTo>
                    <a:pt x="15447253" y="0"/>
                  </a:lnTo>
                  <a:lnTo>
                    <a:pt x="15447253" y="5599629"/>
                  </a:lnTo>
                  <a:lnTo>
                    <a:pt x="0" y="5599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3277310" y="4036695"/>
            <a:ext cx="11733379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4200" spc="84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Objetivo:</a:t>
            </a:r>
            <a:r>
              <a:rPr lang="en-US" sz="4200" spc="8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 centralizar la gestión de alumnos, clases y asistencia mediante una plataforma web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092084" y="674009"/>
            <a:ext cx="6103831" cy="1287940"/>
            <a:chOff x="0" y="0"/>
            <a:chExt cx="8138442" cy="17172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05104" cy="1717254"/>
            </a:xfrm>
            <a:custGeom>
              <a:avLst/>
              <a:gdLst/>
              <a:ahLst/>
              <a:cxnLst/>
              <a:rect r="r" b="b" t="t" l="l"/>
              <a:pathLst>
                <a:path h="1717254" w="4105104">
                  <a:moveTo>
                    <a:pt x="0" y="0"/>
                  </a:moveTo>
                  <a:lnTo>
                    <a:pt x="4105104" y="0"/>
                  </a:lnTo>
                  <a:lnTo>
                    <a:pt x="4105104" y="1717254"/>
                  </a:lnTo>
                  <a:lnTo>
                    <a:pt x="0" y="1717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-44702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true" flipV="false" rot="0">
              <a:off x="4033337" y="0"/>
              <a:ext cx="4105104" cy="1717254"/>
            </a:xfrm>
            <a:custGeom>
              <a:avLst/>
              <a:gdLst/>
              <a:ahLst/>
              <a:cxnLst/>
              <a:rect r="r" b="b" t="t" l="l"/>
              <a:pathLst>
                <a:path h="1717254" w="4105104">
                  <a:moveTo>
                    <a:pt x="4105105" y="0"/>
                  </a:moveTo>
                  <a:lnTo>
                    <a:pt x="0" y="0"/>
                  </a:lnTo>
                  <a:lnTo>
                    <a:pt x="0" y="1717254"/>
                  </a:lnTo>
                  <a:lnTo>
                    <a:pt x="4105105" y="1717254"/>
                  </a:lnTo>
                  <a:lnTo>
                    <a:pt x="4105105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-44702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839072" y="990600"/>
            <a:ext cx="6609856" cy="74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9"/>
              </a:lnSpc>
              <a:spcBef>
                <a:spcPct val="0"/>
              </a:spcBef>
            </a:pPr>
            <a:r>
              <a:rPr lang="en-US" b="true" sz="4299" spc="85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PROYECTO Y OBJETIVO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62586" y="6067425"/>
            <a:ext cx="14059049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Gestión de alumnos → Gestión de clases → Control de asistencia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45249" y="6638290"/>
            <a:ext cx="7397502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Estado actual: </a:t>
            </a: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Prototipo semi-funcional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749006">
            <a:off x="2081819" y="4289496"/>
            <a:ext cx="5461364" cy="11995009"/>
          </a:xfrm>
          <a:custGeom>
            <a:avLst/>
            <a:gdLst/>
            <a:ahLst/>
            <a:cxnLst/>
            <a:rect r="r" b="b" t="t" l="l"/>
            <a:pathLst>
              <a:path h="11995009" w="5461364">
                <a:moveTo>
                  <a:pt x="0" y="0"/>
                </a:moveTo>
                <a:lnTo>
                  <a:pt x="5461364" y="0"/>
                </a:lnTo>
                <a:lnTo>
                  <a:pt x="5461364" y="11995008"/>
                </a:lnTo>
                <a:lnTo>
                  <a:pt x="0" y="11995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830263" y="8647113"/>
            <a:ext cx="23104205" cy="4199722"/>
            <a:chOff x="0" y="0"/>
            <a:chExt cx="30805607" cy="5599629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15358353" y="0"/>
              <a:ext cx="15447253" cy="5599629"/>
            </a:xfrm>
            <a:custGeom>
              <a:avLst/>
              <a:gdLst/>
              <a:ahLst/>
              <a:cxnLst/>
              <a:rect r="r" b="b" t="t" l="l"/>
              <a:pathLst>
                <a:path h="5599629" w="15447253">
                  <a:moveTo>
                    <a:pt x="15447254" y="0"/>
                  </a:moveTo>
                  <a:lnTo>
                    <a:pt x="0" y="0"/>
                  </a:lnTo>
                  <a:lnTo>
                    <a:pt x="0" y="5599629"/>
                  </a:lnTo>
                  <a:lnTo>
                    <a:pt x="15447254" y="5599629"/>
                  </a:lnTo>
                  <a:lnTo>
                    <a:pt x="15447254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47253" cy="5599629"/>
            </a:xfrm>
            <a:custGeom>
              <a:avLst/>
              <a:gdLst/>
              <a:ahLst/>
              <a:cxnLst/>
              <a:rect r="r" b="b" t="t" l="l"/>
              <a:pathLst>
                <a:path h="5599629" w="15447253">
                  <a:moveTo>
                    <a:pt x="0" y="0"/>
                  </a:moveTo>
                  <a:lnTo>
                    <a:pt x="15447253" y="0"/>
                  </a:lnTo>
                  <a:lnTo>
                    <a:pt x="15447253" y="5599629"/>
                  </a:lnTo>
                  <a:lnTo>
                    <a:pt x="0" y="5599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10642643">
            <a:off x="13412976" y="8677698"/>
            <a:ext cx="5523595" cy="1857937"/>
          </a:xfrm>
          <a:custGeom>
            <a:avLst/>
            <a:gdLst/>
            <a:ahLst/>
            <a:cxnLst/>
            <a:rect r="r" b="b" t="t" l="l"/>
            <a:pathLst>
              <a:path h="1857937" w="5523595">
                <a:moveTo>
                  <a:pt x="0" y="0"/>
                </a:moveTo>
                <a:lnTo>
                  <a:pt x="5523596" y="0"/>
                </a:lnTo>
                <a:lnTo>
                  <a:pt x="5523596" y="1857936"/>
                </a:lnTo>
                <a:lnTo>
                  <a:pt x="0" y="18579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722801" y="3070013"/>
            <a:ext cx="5535175" cy="4146973"/>
            <a:chOff x="0" y="0"/>
            <a:chExt cx="8475666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59354" y="3581400"/>
              <a:ext cx="7663253" cy="185420"/>
            </a:xfrm>
            <a:custGeom>
              <a:avLst/>
              <a:gdLst/>
              <a:ahLst/>
              <a:cxnLst/>
              <a:rect r="r" b="b" t="t" l="l"/>
              <a:pathLst>
                <a:path h="185420" w="7663253">
                  <a:moveTo>
                    <a:pt x="2926" y="182880"/>
                  </a:moveTo>
                  <a:cubicBezTo>
                    <a:pt x="-7234" y="149860"/>
                    <a:pt x="10546" y="132080"/>
                    <a:pt x="33406" y="125730"/>
                  </a:cubicBezTo>
                  <a:cubicBezTo>
                    <a:pt x="93096" y="110490"/>
                    <a:pt x="154056" y="97790"/>
                    <a:pt x="215016" y="88900"/>
                  </a:cubicBezTo>
                  <a:cubicBezTo>
                    <a:pt x="249306" y="83820"/>
                    <a:pt x="284866" y="86360"/>
                    <a:pt x="319156" y="83820"/>
                  </a:cubicBezTo>
                  <a:cubicBezTo>
                    <a:pt x="402976" y="77470"/>
                    <a:pt x="488066" y="69850"/>
                    <a:pt x="571886" y="64770"/>
                  </a:cubicBezTo>
                  <a:cubicBezTo>
                    <a:pt x="701426" y="55880"/>
                    <a:pt x="832236" y="49530"/>
                    <a:pt x="961776" y="41910"/>
                  </a:cubicBezTo>
                  <a:cubicBezTo>
                    <a:pt x="1091316" y="35560"/>
                    <a:pt x="1222126" y="29210"/>
                    <a:pt x="1351666" y="24130"/>
                  </a:cubicBezTo>
                  <a:cubicBezTo>
                    <a:pt x="1483746" y="19050"/>
                    <a:pt x="1615826" y="15240"/>
                    <a:pt x="1749176" y="11430"/>
                  </a:cubicBezTo>
                  <a:cubicBezTo>
                    <a:pt x="1881256" y="7620"/>
                    <a:pt x="2014606" y="5080"/>
                    <a:pt x="2146686" y="2540"/>
                  </a:cubicBezTo>
                  <a:cubicBezTo>
                    <a:pt x="2283846" y="0"/>
                    <a:pt x="2421006" y="0"/>
                    <a:pt x="3319452" y="0"/>
                  </a:cubicBezTo>
                  <a:cubicBezTo>
                    <a:pt x="4524389" y="0"/>
                    <a:pt x="4958153" y="1270"/>
                    <a:pt x="5095312" y="3810"/>
                  </a:cubicBezTo>
                  <a:cubicBezTo>
                    <a:pt x="5235012" y="6350"/>
                    <a:pt x="5374712" y="8890"/>
                    <a:pt x="5514412" y="12700"/>
                  </a:cubicBezTo>
                  <a:cubicBezTo>
                    <a:pt x="5655382" y="16510"/>
                    <a:pt x="5796353" y="20320"/>
                    <a:pt x="5936053" y="25400"/>
                  </a:cubicBezTo>
                  <a:cubicBezTo>
                    <a:pt x="6077023" y="30480"/>
                    <a:pt x="6216723" y="36830"/>
                    <a:pt x="6357693" y="41910"/>
                  </a:cubicBezTo>
                  <a:cubicBezTo>
                    <a:pt x="6493583" y="48260"/>
                    <a:pt x="6629473" y="53340"/>
                    <a:pt x="6765362" y="59690"/>
                  </a:cubicBezTo>
                  <a:cubicBezTo>
                    <a:pt x="6902523" y="66040"/>
                    <a:pt x="7039683" y="71120"/>
                    <a:pt x="7176843" y="80010"/>
                  </a:cubicBezTo>
                  <a:cubicBezTo>
                    <a:pt x="7329243" y="88900"/>
                    <a:pt x="7480373" y="101600"/>
                    <a:pt x="7632773" y="114300"/>
                  </a:cubicBezTo>
                  <a:cubicBezTo>
                    <a:pt x="7642933" y="115570"/>
                    <a:pt x="7653093" y="120650"/>
                    <a:pt x="7663253" y="123190"/>
                  </a:cubicBezTo>
                  <a:cubicBezTo>
                    <a:pt x="7663253" y="127000"/>
                    <a:pt x="7661983" y="130810"/>
                    <a:pt x="7661983" y="134620"/>
                  </a:cubicBezTo>
                  <a:cubicBezTo>
                    <a:pt x="7622612" y="139700"/>
                    <a:pt x="7583243" y="144780"/>
                    <a:pt x="7542603" y="148590"/>
                  </a:cubicBezTo>
                  <a:cubicBezTo>
                    <a:pt x="7499423" y="152400"/>
                    <a:pt x="7456243" y="154940"/>
                    <a:pt x="7413062" y="154940"/>
                  </a:cubicBezTo>
                  <a:cubicBezTo>
                    <a:pt x="7251773" y="156210"/>
                    <a:pt x="7089212" y="156210"/>
                    <a:pt x="6927923" y="154940"/>
                  </a:cubicBezTo>
                  <a:cubicBezTo>
                    <a:pt x="6789493" y="153670"/>
                    <a:pt x="6651062" y="149860"/>
                    <a:pt x="6512633" y="147320"/>
                  </a:cubicBezTo>
                  <a:cubicBezTo>
                    <a:pt x="6371662" y="144780"/>
                    <a:pt x="6230693" y="140970"/>
                    <a:pt x="6090993" y="137160"/>
                  </a:cubicBezTo>
                  <a:cubicBezTo>
                    <a:pt x="5952562" y="133350"/>
                    <a:pt x="5814132" y="129540"/>
                    <a:pt x="5675703" y="125730"/>
                  </a:cubicBezTo>
                  <a:cubicBezTo>
                    <a:pt x="5534732" y="121920"/>
                    <a:pt x="5393762" y="119380"/>
                    <a:pt x="5254062" y="118110"/>
                  </a:cubicBezTo>
                  <a:cubicBezTo>
                    <a:pt x="5118173" y="115570"/>
                    <a:pt x="4982282" y="113030"/>
                    <a:pt x="4747525" y="113030"/>
                  </a:cubicBezTo>
                  <a:cubicBezTo>
                    <a:pt x="3531431" y="111760"/>
                    <a:pt x="2443866" y="113030"/>
                    <a:pt x="2305436" y="114300"/>
                  </a:cubicBezTo>
                  <a:cubicBezTo>
                    <a:pt x="2177166" y="115570"/>
                    <a:pt x="2047626" y="118110"/>
                    <a:pt x="1919356" y="120650"/>
                  </a:cubicBezTo>
                  <a:cubicBezTo>
                    <a:pt x="1783466" y="123190"/>
                    <a:pt x="1647576" y="128270"/>
                    <a:pt x="1511686" y="132080"/>
                  </a:cubicBezTo>
                  <a:cubicBezTo>
                    <a:pt x="1380876" y="135890"/>
                    <a:pt x="1248796" y="140970"/>
                    <a:pt x="1117986" y="146050"/>
                  </a:cubicBezTo>
                  <a:cubicBezTo>
                    <a:pt x="988446" y="151130"/>
                    <a:pt x="857636" y="157480"/>
                    <a:pt x="728096" y="162560"/>
                  </a:cubicBezTo>
                  <a:cubicBezTo>
                    <a:pt x="596016" y="167640"/>
                    <a:pt x="463936" y="172720"/>
                    <a:pt x="330586" y="177800"/>
                  </a:cubicBezTo>
                  <a:cubicBezTo>
                    <a:pt x="235336" y="181610"/>
                    <a:pt x="141356" y="184150"/>
                    <a:pt x="46106" y="185420"/>
                  </a:cubicBezTo>
                  <a:cubicBezTo>
                    <a:pt x="32136" y="185420"/>
                    <a:pt x="16896" y="184150"/>
                    <a:pt x="2926" y="1828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048251" y="862522"/>
          <a:ext cx="7315200" cy="7521259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9401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Funcionalidad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805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Bebas Neue Bold"/>
                          <a:ea typeface="Bebas Neue Bold"/>
                          <a:cs typeface="Bebas Neue Bold"/>
                          <a:sym typeface="Bebas Neue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</a:tr>
              <a:tr h="9401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Gestión de Alumnos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Iniciado ✍🏼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1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f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icha Individual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iniciado ✍🏼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1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egistro de clases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iniciado ✍🏼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1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control de asistencia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iniciado ✍🏼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1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consulta de historial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iniciado ✍🏼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1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seguimientos de objetivos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En espera… ⏳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1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evaluaciones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En espera… ⏳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028700" y="4220979"/>
            <a:ext cx="6923377" cy="13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00"/>
              </a:lnSpc>
              <a:spcBef>
                <a:spcPct val="0"/>
              </a:spcBef>
            </a:pPr>
            <a:r>
              <a:rPr lang="en-US" b="true" sz="9900" spc="-198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Estado actual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365731">
            <a:off x="10770123" y="1533081"/>
            <a:ext cx="6634706" cy="7707605"/>
            <a:chOff x="0" y="0"/>
            <a:chExt cx="546608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EEEB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4"/>
              <a:stretch>
                <a:fillRect l="-22000" t="0" r="-2200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A99D9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03956" y="1028700"/>
            <a:ext cx="1995992" cy="1776210"/>
            <a:chOff x="0" y="0"/>
            <a:chExt cx="2661323" cy="2368280"/>
          </a:xfrm>
        </p:grpSpPr>
        <p:sp>
          <p:nvSpPr>
            <p:cNvPr name="Freeform 9" id="9"/>
            <p:cNvSpPr/>
            <p:nvPr/>
          </p:nvSpPr>
          <p:spPr>
            <a:xfrm flipH="false" flipV="false" rot="-2414498">
              <a:off x="38949" y="1271386"/>
              <a:ext cx="1533374" cy="682352"/>
            </a:xfrm>
            <a:custGeom>
              <a:avLst/>
              <a:gdLst/>
              <a:ahLst/>
              <a:cxnLst/>
              <a:rect r="r" b="b" t="t" l="l"/>
              <a:pathLst>
                <a:path h="682352" w="1533374">
                  <a:moveTo>
                    <a:pt x="0" y="0"/>
                  </a:moveTo>
                  <a:lnTo>
                    <a:pt x="1533375" y="0"/>
                  </a:lnTo>
                  <a:lnTo>
                    <a:pt x="1533375" y="682351"/>
                  </a:lnTo>
                  <a:lnTo>
                    <a:pt x="0" y="682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-2414498">
              <a:off x="1089000" y="414542"/>
              <a:ext cx="1533374" cy="682352"/>
            </a:xfrm>
            <a:custGeom>
              <a:avLst/>
              <a:gdLst/>
              <a:ahLst/>
              <a:cxnLst/>
              <a:rect r="r" b="b" t="t" l="l"/>
              <a:pathLst>
                <a:path h="682352" w="1533374">
                  <a:moveTo>
                    <a:pt x="0" y="0"/>
                  </a:moveTo>
                  <a:lnTo>
                    <a:pt x="1533374" y="0"/>
                  </a:lnTo>
                  <a:lnTo>
                    <a:pt x="1533374" y="682352"/>
                  </a:lnTo>
                  <a:lnTo>
                    <a:pt x="0" y="68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5567287">
            <a:off x="16261304" y="1529015"/>
            <a:ext cx="1995992" cy="1776210"/>
            <a:chOff x="0" y="0"/>
            <a:chExt cx="2661323" cy="2368280"/>
          </a:xfrm>
        </p:grpSpPr>
        <p:sp>
          <p:nvSpPr>
            <p:cNvPr name="Freeform 12" id="12"/>
            <p:cNvSpPr/>
            <p:nvPr/>
          </p:nvSpPr>
          <p:spPr>
            <a:xfrm flipH="false" flipV="false" rot="-2414498">
              <a:off x="38949" y="1271386"/>
              <a:ext cx="1533374" cy="682352"/>
            </a:xfrm>
            <a:custGeom>
              <a:avLst/>
              <a:gdLst/>
              <a:ahLst/>
              <a:cxnLst/>
              <a:rect r="r" b="b" t="t" l="l"/>
              <a:pathLst>
                <a:path h="682352" w="1533374">
                  <a:moveTo>
                    <a:pt x="0" y="0"/>
                  </a:moveTo>
                  <a:lnTo>
                    <a:pt x="1533375" y="0"/>
                  </a:lnTo>
                  <a:lnTo>
                    <a:pt x="1533375" y="682351"/>
                  </a:lnTo>
                  <a:lnTo>
                    <a:pt x="0" y="682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-2414498">
              <a:off x="1089000" y="414542"/>
              <a:ext cx="1533374" cy="682352"/>
            </a:xfrm>
            <a:custGeom>
              <a:avLst/>
              <a:gdLst/>
              <a:ahLst/>
              <a:cxnLst/>
              <a:rect r="r" b="b" t="t" l="l"/>
              <a:pathLst>
                <a:path h="682352" w="1533374">
                  <a:moveTo>
                    <a:pt x="0" y="0"/>
                  </a:moveTo>
                  <a:lnTo>
                    <a:pt x="1533374" y="0"/>
                  </a:lnTo>
                  <a:lnTo>
                    <a:pt x="1533374" y="682352"/>
                  </a:lnTo>
                  <a:lnTo>
                    <a:pt x="0" y="68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91470" y="636638"/>
            <a:ext cx="4357759" cy="4357759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59354" y="3581400"/>
              <a:ext cx="5537587" cy="185420"/>
            </a:xfrm>
            <a:custGeom>
              <a:avLst/>
              <a:gdLst/>
              <a:ahLst/>
              <a:cxnLst/>
              <a:rect r="r" b="b" t="t" l="l"/>
              <a:pathLst>
                <a:path h="185420" w="5537587">
                  <a:moveTo>
                    <a:pt x="2926" y="182880"/>
                  </a:moveTo>
                  <a:cubicBezTo>
                    <a:pt x="-7234" y="149860"/>
                    <a:pt x="10546" y="132080"/>
                    <a:pt x="33406" y="125730"/>
                  </a:cubicBezTo>
                  <a:cubicBezTo>
                    <a:pt x="93096" y="110490"/>
                    <a:pt x="154056" y="97790"/>
                    <a:pt x="215016" y="88900"/>
                  </a:cubicBezTo>
                  <a:cubicBezTo>
                    <a:pt x="249306" y="83820"/>
                    <a:pt x="284866" y="86360"/>
                    <a:pt x="319156" y="83820"/>
                  </a:cubicBezTo>
                  <a:cubicBezTo>
                    <a:pt x="402976" y="77470"/>
                    <a:pt x="488066" y="69850"/>
                    <a:pt x="571886" y="64770"/>
                  </a:cubicBezTo>
                  <a:cubicBezTo>
                    <a:pt x="701426" y="55880"/>
                    <a:pt x="832236" y="49530"/>
                    <a:pt x="961776" y="41910"/>
                  </a:cubicBezTo>
                  <a:cubicBezTo>
                    <a:pt x="1091316" y="35560"/>
                    <a:pt x="1222126" y="29210"/>
                    <a:pt x="1351666" y="24130"/>
                  </a:cubicBezTo>
                  <a:cubicBezTo>
                    <a:pt x="1483746" y="19050"/>
                    <a:pt x="1615826" y="15240"/>
                    <a:pt x="1749176" y="11430"/>
                  </a:cubicBezTo>
                  <a:cubicBezTo>
                    <a:pt x="1881256" y="7620"/>
                    <a:pt x="2014606" y="5080"/>
                    <a:pt x="2146686" y="2540"/>
                  </a:cubicBezTo>
                  <a:cubicBezTo>
                    <a:pt x="2283846" y="0"/>
                    <a:pt x="2421006" y="0"/>
                    <a:pt x="2558166" y="0"/>
                  </a:cubicBezTo>
                  <a:cubicBezTo>
                    <a:pt x="2695326" y="0"/>
                    <a:pt x="2832486" y="1270"/>
                    <a:pt x="2969646" y="3810"/>
                  </a:cubicBezTo>
                  <a:cubicBezTo>
                    <a:pt x="3109346" y="6350"/>
                    <a:pt x="3249046" y="8890"/>
                    <a:pt x="3388746" y="12700"/>
                  </a:cubicBezTo>
                  <a:cubicBezTo>
                    <a:pt x="3529716" y="16510"/>
                    <a:pt x="3670686" y="20320"/>
                    <a:pt x="3810386" y="25400"/>
                  </a:cubicBezTo>
                  <a:cubicBezTo>
                    <a:pt x="3951356" y="30480"/>
                    <a:pt x="4091056" y="36830"/>
                    <a:pt x="4232026" y="41910"/>
                  </a:cubicBezTo>
                  <a:cubicBezTo>
                    <a:pt x="4367916" y="48260"/>
                    <a:pt x="4503806" y="53340"/>
                    <a:pt x="4639696" y="59690"/>
                  </a:cubicBezTo>
                  <a:cubicBezTo>
                    <a:pt x="4776856" y="66040"/>
                    <a:pt x="4914016" y="71120"/>
                    <a:pt x="5051176" y="80010"/>
                  </a:cubicBezTo>
                  <a:cubicBezTo>
                    <a:pt x="5203576" y="88900"/>
                    <a:pt x="5354706" y="101600"/>
                    <a:pt x="5507106" y="114300"/>
                  </a:cubicBezTo>
                  <a:cubicBezTo>
                    <a:pt x="5517266" y="115570"/>
                    <a:pt x="5527426" y="120650"/>
                    <a:pt x="5537586" y="123190"/>
                  </a:cubicBezTo>
                  <a:cubicBezTo>
                    <a:pt x="5537586" y="127000"/>
                    <a:pt x="5536316" y="130810"/>
                    <a:pt x="5536316" y="134620"/>
                  </a:cubicBezTo>
                  <a:cubicBezTo>
                    <a:pt x="5496946" y="139700"/>
                    <a:pt x="5457576" y="144780"/>
                    <a:pt x="5416936" y="148590"/>
                  </a:cubicBezTo>
                  <a:cubicBezTo>
                    <a:pt x="5373756" y="152400"/>
                    <a:pt x="5330576" y="154940"/>
                    <a:pt x="5287396" y="154940"/>
                  </a:cubicBezTo>
                  <a:cubicBezTo>
                    <a:pt x="5126106" y="156210"/>
                    <a:pt x="4963546" y="156210"/>
                    <a:pt x="4802256" y="154940"/>
                  </a:cubicBezTo>
                  <a:cubicBezTo>
                    <a:pt x="4663826" y="153670"/>
                    <a:pt x="4525396" y="149860"/>
                    <a:pt x="4386966" y="147320"/>
                  </a:cubicBezTo>
                  <a:cubicBezTo>
                    <a:pt x="4245996" y="144780"/>
                    <a:pt x="4105026" y="140970"/>
                    <a:pt x="3965326" y="137160"/>
                  </a:cubicBezTo>
                  <a:cubicBezTo>
                    <a:pt x="3826896" y="133350"/>
                    <a:pt x="3688466" y="129540"/>
                    <a:pt x="3550036" y="125730"/>
                  </a:cubicBezTo>
                  <a:cubicBezTo>
                    <a:pt x="3409066" y="121920"/>
                    <a:pt x="3268096" y="119380"/>
                    <a:pt x="3128396" y="118110"/>
                  </a:cubicBezTo>
                  <a:cubicBezTo>
                    <a:pt x="2992506" y="115570"/>
                    <a:pt x="2856616" y="113030"/>
                    <a:pt x="2720726" y="113030"/>
                  </a:cubicBezTo>
                  <a:cubicBezTo>
                    <a:pt x="2582296" y="111760"/>
                    <a:pt x="2443866" y="113030"/>
                    <a:pt x="2305436" y="114300"/>
                  </a:cubicBezTo>
                  <a:cubicBezTo>
                    <a:pt x="2177166" y="115570"/>
                    <a:pt x="2047626" y="118110"/>
                    <a:pt x="1919356" y="120650"/>
                  </a:cubicBezTo>
                  <a:cubicBezTo>
                    <a:pt x="1783466" y="123190"/>
                    <a:pt x="1647576" y="128270"/>
                    <a:pt x="1511686" y="132080"/>
                  </a:cubicBezTo>
                  <a:cubicBezTo>
                    <a:pt x="1380876" y="135890"/>
                    <a:pt x="1248796" y="140970"/>
                    <a:pt x="1117986" y="146050"/>
                  </a:cubicBezTo>
                  <a:cubicBezTo>
                    <a:pt x="988446" y="151130"/>
                    <a:pt x="857636" y="157480"/>
                    <a:pt x="728096" y="162560"/>
                  </a:cubicBezTo>
                  <a:cubicBezTo>
                    <a:pt x="596016" y="167640"/>
                    <a:pt x="463936" y="172720"/>
                    <a:pt x="330586" y="177800"/>
                  </a:cubicBezTo>
                  <a:cubicBezTo>
                    <a:pt x="235336" y="181610"/>
                    <a:pt x="141356" y="184150"/>
                    <a:pt x="46106" y="185420"/>
                  </a:cubicBezTo>
                  <a:cubicBezTo>
                    <a:pt x="32136" y="185420"/>
                    <a:pt x="16896" y="184150"/>
                    <a:pt x="2926" y="1828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75637" y="1939794"/>
            <a:ext cx="6070632" cy="139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00"/>
              </a:lnSpc>
            </a:pPr>
            <a:r>
              <a:rPr lang="en-US" b="true" sz="10300" spc="-206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ajustes de la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5637" y="3369421"/>
            <a:ext cx="7353515" cy="769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9"/>
              </a:lnSpc>
            </a:pPr>
            <a:r>
              <a:rPr lang="en-US" sz="6199">
                <a:solidFill>
                  <a:srgbClr val="926E47"/>
                </a:solidFill>
                <a:latin typeface="Gochi Hand"/>
                <a:ea typeface="Gochi Hand"/>
                <a:cs typeface="Gochi Hand"/>
                <a:sym typeface="Gochi Hand"/>
              </a:rPr>
              <a:t>PROPUESTA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1470" y="4275792"/>
            <a:ext cx="8804020" cy="427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199" i="true" u="sng">
                <a:solidFill>
                  <a:srgbClr val="926E47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Dificultades:</a:t>
            </a:r>
            <a:r>
              <a:rPr lang="en-US" sz="2199">
                <a:solidFill>
                  <a:srgbClr val="926E4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Tiempo disponible para el desarrollo. - Priorización</a:t>
            </a:r>
          </a:p>
          <a:p>
            <a:pPr algn="l">
              <a:lnSpc>
                <a:spcPts val="3431"/>
              </a:lnSpc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 funcionalidades. - Integración progresiva de los componentes.</a:t>
            </a:r>
          </a:p>
          <a:p>
            <a:pPr algn="l">
              <a:lnSpc>
                <a:spcPts val="3431"/>
              </a:lnSpc>
            </a:pPr>
          </a:p>
          <a:p>
            <a:pPr algn="l">
              <a:lnSpc>
                <a:spcPts val="3431"/>
              </a:lnSpc>
            </a:pPr>
            <a:r>
              <a:rPr lang="en-US" sz="2199" i="true" u="sng">
                <a:solidFill>
                  <a:srgbClr val="926E47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Facilitadores</a:t>
            </a: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Alcance definido. - Requerimientos previamente</a:t>
            </a:r>
          </a:p>
          <a:p>
            <a:pPr algn="l">
              <a:lnSpc>
                <a:spcPts val="3431"/>
              </a:lnSpc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identificados. - Tecnologías seleccionadas para el proyecto. -</a:t>
            </a:r>
          </a:p>
          <a:p>
            <a:pPr algn="l">
              <a:lnSpc>
                <a:spcPts val="3431"/>
              </a:lnSpc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Desarrollo incremental.</a:t>
            </a:r>
          </a:p>
          <a:p>
            <a:pPr algn="l">
              <a:lnSpc>
                <a:spcPts val="3431"/>
              </a:lnSpc>
            </a:pPr>
          </a:p>
          <a:p>
            <a:pPr algn="l">
              <a:lnSpc>
                <a:spcPts val="3431"/>
              </a:lnSpc>
            </a:pPr>
            <a:r>
              <a:rPr lang="en-US" sz="2199" i="true" u="sng">
                <a:solidFill>
                  <a:srgbClr val="926E47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Idea central: </a:t>
            </a: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Priorización de funcionalidades esenciales para</a:t>
            </a:r>
          </a:p>
          <a:p>
            <a:pPr algn="l">
              <a:lnSpc>
                <a:spcPts val="3431"/>
              </a:lnSpc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construir una primera versión funcional.</a:t>
            </a:r>
          </a:p>
          <a:p>
            <a:pPr algn="l" marL="0" indent="0" lvl="0">
              <a:lnSpc>
                <a:spcPts val="343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874066"/>
            <a:ext cx="16230600" cy="973836"/>
          </a:xfrm>
          <a:custGeom>
            <a:avLst/>
            <a:gdLst/>
            <a:ahLst/>
            <a:cxnLst/>
            <a:rect r="r" b="b" t="t" l="l"/>
            <a:pathLst>
              <a:path h="973836" w="16230600">
                <a:moveTo>
                  <a:pt x="0" y="0"/>
                </a:moveTo>
                <a:lnTo>
                  <a:pt x="16230600" y="0"/>
                </a:lnTo>
                <a:lnTo>
                  <a:pt x="16230600" y="973836"/>
                </a:lnTo>
                <a:lnTo>
                  <a:pt x="0" y="973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74881" y="1351878"/>
            <a:ext cx="11738239" cy="107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1"/>
              </a:lnSpc>
              <a:spcBef>
                <a:spcPct val="0"/>
              </a:spcBef>
            </a:pPr>
            <a:r>
              <a:rPr lang="en-US" b="true" sz="8001" spc="-160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monitoreo plan de trabajo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40604" y="4435500"/>
            <a:ext cx="3347177" cy="44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4"/>
              </a:lnSpc>
            </a:pPr>
            <a:r>
              <a:rPr lang="en-US" b="true" sz="2524">
                <a:solidFill>
                  <a:srgbClr val="1DD52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Levantamiento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98849" y="4435661"/>
            <a:ext cx="3347177" cy="44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4"/>
              </a:lnSpc>
            </a:pPr>
            <a:r>
              <a:rPr lang="en-US" b="true" sz="2524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95688" y="5839277"/>
            <a:ext cx="3347177" cy="44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4"/>
              </a:lnSpc>
            </a:pPr>
            <a:r>
              <a:rPr lang="en-US" b="true" sz="2524">
                <a:solidFill>
                  <a:srgbClr val="1DD52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Requerimientos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07206" y="4435661"/>
            <a:ext cx="1673588" cy="44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4"/>
              </a:lnSpc>
            </a:pPr>
            <a:r>
              <a:rPr lang="en-US" b="true" sz="2524">
                <a:solidFill>
                  <a:srgbClr val="FEB9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37600" y="5788613"/>
            <a:ext cx="3347177" cy="44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4"/>
              </a:lnSpc>
            </a:pPr>
            <a:r>
              <a:rPr lang="en-US" b="true" sz="2524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Implementación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96408" y="5790752"/>
            <a:ext cx="3347177" cy="44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4"/>
              </a:lnSpc>
            </a:pPr>
            <a:r>
              <a:rPr lang="en-US" b="true" sz="2524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Validación</a:t>
            </a:r>
          </a:p>
        </p:txBody>
      </p:sp>
      <p:sp>
        <p:nvSpPr>
          <p:cNvPr name="AutoShape 11" id="11"/>
          <p:cNvSpPr/>
          <p:nvPr/>
        </p:nvSpPr>
        <p:spPr>
          <a:xfrm>
            <a:off x="5897880" y="2412353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1263347" y="8961772"/>
            <a:ext cx="15606649" cy="56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0"/>
              </a:lnSpc>
            </a:pPr>
            <a:r>
              <a:rPr lang="en-US" sz="16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*A medida que el proyecto avance, el color de cada etapa se irá tornando más verde en relación a las semanas y al progreso esperado delimitado con anterioridad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576215" y="-323813"/>
            <a:ext cx="9135570" cy="4146973"/>
            <a:chOff x="0" y="0"/>
            <a:chExt cx="13988726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59354" y="3581400"/>
              <a:ext cx="13176312" cy="185420"/>
            </a:xfrm>
            <a:custGeom>
              <a:avLst/>
              <a:gdLst/>
              <a:ahLst/>
              <a:cxnLst/>
              <a:rect r="r" b="b" t="t" l="l"/>
              <a:pathLst>
                <a:path h="185420" w="13176312">
                  <a:moveTo>
                    <a:pt x="2926" y="182880"/>
                  </a:moveTo>
                  <a:cubicBezTo>
                    <a:pt x="-7234" y="149860"/>
                    <a:pt x="10546" y="132080"/>
                    <a:pt x="33406" y="125730"/>
                  </a:cubicBezTo>
                  <a:cubicBezTo>
                    <a:pt x="93096" y="110490"/>
                    <a:pt x="154056" y="97790"/>
                    <a:pt x="215016" y="88900"/>
                  </a:cubicBezTo>
                  <a:cubicBezTo>
                    <a:pt x="249306" y="83820"/>
                    <a:pt x="284866" y="86360"/>
                    <a:pt x="319156" y="83820"/>
                  </a:cubicBezTo>
                  <a:cubicBezTo>
                    <a:pt x="402976" y="77470"/>
                    <a:pt x="488066" y="69850"/>
                    <a:pt x="571886" y="64770"/>
                  </a:cubicBezTo>
                  <a:cubicBezTo>
                    <a:pt x="701426" y="55880"/>
                    <a:pt x="832236" y="49530"/>
                    <a:pt x="961776" y="41910"/>
                  </a:cubicBezTo>
                  <a:cubicBezTo>
                    <a:pt x="1091316" y="35560"/>
                    <a:pt x="1222126" y="29210"/>
                    <a:pt x="1351666" y="24130"/>
                  </a:cubicBezTo>
                  <a:cubicBezTo>
                    <a:pt x="1483746" y="19050"/>
                    <a:pt x="1615826" y="15240"/>
                    <a:pt x="1749176" y="11430"/>
                  </a:cubicBezTo>
                  <a:cubicBezTo>
                    <a:pt x="1881256" y="7620"/>
                    <a:pt x="2014606" y="5080"/>
                    <a:pt x="2146686" y="2540"/>
                  </a:cubicBezTo>
                  <a:cubicBezTo>
                    <a:pt x="2283846" y="0"/>
                    <a:pt x="2421006" y="0"/>
                    <a:pt x="5293898" y="0"/>
                  </a:cubicBezTo>
                  <a:cubicBezTo>
                    <a:pt x="9268186" y="0"/>
                    <a:pt x="10471212" y="1270"/>
                    <a:pt x="10608372" y="3810"/>
                  </a:cubicBezTo>
                  <a:cubicBezTo>
                    <a:pt x="10748072" y="6350"/>
                    <a:pt x="10887772" y="8890"/>
                    <a:pt x="11027472" y="12700"/>
                  </a:cubicBezTo>
                  <a:cubicBezTo>
                    <a:pt x="11168442" y="16510"/>
                    <a:pt x="11309412" y="20320"/>
                    <a:pt x="11449112" y="25400"/>
                  </a:cubicBezTo>
                  <a:cubicBezTo>
                    <a:pt x="11590082" y="30480"/>
                    <a:pt x="11729782" y="36830"/>
                    <a:pt x="11870752" y="41910"/>
                  </a:cubicBezTo>
                  <a:cubicBezTo>
                    <a:pt x="12006642" y="48260"/>
                    <a:pt x="12142532" y="53340"/>
                    <a:pt x="12278422" y="59690"/>
                  </a:cubicBezTo>
                  <a:cubicBezTo>
                    <a:pt x="12415582" y="66040"/>
                    <a:pt x="12552742" y="71120"/>
                    <a:pt x="12689902" y="80010"/>
                  </a:cubicBezTo>
                  <a:cubicBezTo>
                    <a:pt x="12842302" y="88900"/>
                    <a:pt x="12993433" y="101600"/>
                    <a:pt x="13145833" y="114300"/>
                  </a:cubicBezTo>
                  <a:cubicBezTo>
                    <a:pt x="13155992" y="115570"/>
                    <a:pt x="13166152" y="120650"/>
                    <a:pt x="13176311" y="123190"/>
                  </a:cubicBezTo>
                  <a:cubicBezTo>
                    <a:pt x="13176311" y="127000"/>
                    <a:pt x="13175042" y="130810"/>
                    <a:pt x="13175042" y="134620"/>
                  </a:cubicBezTo>
                  <a:cubicBezTo>
                    <a:pt x="13135672" y="139700"/>
                    <a:pt x="13096302" y="144780"/>
                    <a:pt x="13055661" y="148590"/>
                  </a:cubicBezTo>
                  <a:cubicBezTo>
                    <a:pt x="13012483" y="152400"/>
                    <a:pt x="12969302" y="154940"/>
                    <a:pt x="12926122" y="154940"/>
                  </a:cubicBezTo>
                  <a:cubicBezTo>
                    <a:pt x="12764833" y="156210"/>
                    <a:pt x="12602272" y="156210"/>
                    <a:pt x="12440982" y="154940"/>
                  </a:cubicBezTo>
                  <a:cubicBezTo>
                    <a:pt x="12302552" y="153670"/>
                    <a:pt x="12164122" y="149860"/>
                    <a:pt x="12025692" y="147320"/>
                  </a:cubicBezTo>
                  <a:cubicBezTo>
                    <a:pt x="11884722" y="144780"/>
                    <a:pt x="11743752" y="140970"/>
                    <a:pt x="11604052" y="137160"/>
                  </a:cubicBezTo>
                  <a:cubicBezTo>
                    <a:pt x="11465622" y="133350"/>
                    <a:pt x="11327192" y="129540"/>
                    <a:pt x="11188762" y="125730"/>
                  </a:cubicBezTo>
                  <a:cubicBezTo>
                    <a:pt x="11047792" y="121920"/>
                    <a:pt x="10906822" y="119380"/>
                    <a:pt x="10767122" y="118110"/>
                  </a:cubicBezTo>
                  <a:cubicBezTo>
                    <a:pt x="10631232" y="115570"/>
                    <a:pt x="10495342" y="113030"/>
                    <a:pt x="10004165" y="113030"/>
                  </a:cubicBezTo>
                  <a:cubicBezTo>
                    <a:pt x="5993076" y="111760"/>
                    <a:pt x="2443866" y="113030"/>
                    <a:pt x="2305436" y="114300"/>
                  </a:cubicBezTo>
                  <a:cubicBezTo>
                    <a:pt x="2177166" y="115570"/>
                    <a:pt x="2047626" y="118110"/>
                    <a:pt x="1919356" y="120650"/>
                  </a:cubicBezTo>
                  <a:cubicBezTo>
                    <a:pt x="1783466" y="123190"/>
                    <a:pt x="1647576" y="128270"/>
                    <a:pt x="1511686" y="132080"/>
                  </a:cubicBezTo>
                  <a:cubicBezTo>
                    <a:pt x="1380876" y="135890"/>
                    <a:pt x="1248796" y="140970"/>
                    <a:pt x="1117986" y="146050"/>
                  </a:cubicBezTo>
                  <a:cubicBezTo>
                    <a:pt x="988446" y="151130"/>
                    <a:pt x="857636" y="157480"/>
                    <a:pt x="728096" y="162560"/>
                  </a:cubicBezTo>
                  <a:cubicBezTo>
                    <a:pt x="596016" y="167640"/>
                    <a:pt x="463936" y="172720"/>
                    <a:pt x="330586" y="177800"/>
                  </a:cubicBezTo>
                  <a:cubicBezTo>
                    <a:pt x="235336" y="181610"/>
                    <a:pt x="141356" y="184150"/>
                    <a:pt x="46106" y="185420"/>
                  </a:cubicBezTo>
                  <a:cubicBezTo>
                    <a:pt x="32136" y="185420"/>
                    <a:pt x="16896" y="184150"/>
                    <a:pt x="2926" y="1828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4745979" y="1394709"/>
            <a:ext cx="8796042" cy="80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00"/>
              </a:lnSpc>
              <a:spcBef>
                <a:spcPct val="0"/>
              </a:spcBef>
            </a:pPr>
            <a:r>
              <a:rPr lang="en-US" b="true" sz="5900" spc="-118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aspecto técnico / Metodológico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173740">
            <a:off x="11397854" y="-641369"/>
            <a:ext cx="10568146" cy="4782086"/>
          </a:xfrm>
          <a:custGeom>
            <a:avLst/>
            <a:gdLst/>
            <a:ahLst/>
            <a:cxnLst/>
            <a:rect r="r" b="b" t="t" l="l"/>
            <a:pathLst>
              <a:path h="4782086" w="10568146">
                <a:moveTo>
                  <a:pt x="0" y="0"/>
                </a:moveTo>
                <a:lnTo>
                  <a:pt x="10568146" y="0"/>
                </a:lnTo>
                <a:lnTo>
                  <a:pt x="10568146" y="4782086"/>
                </a:lnTo>
                <a:lnTo>
                  <a:pt x="0" y="47820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759953" y="643605"/>
            <a:ext cx="2499347" cy="3138450"/>
          </a:xfrm>
          <a:custGeom>
            <a:avLst/>
            <a:gdLst/>
            <a:ahLst/>
            <a:cxnLst/>
            <a:rect r="r" b="b" t="t" l="l"/>
            <a:pathLst>
              <a:path h="3138450" w="2499347">
                <a:moveTo>
                  <a:pt x="0" y="0"/>
                </a:moveTo>
                <a:lnTo>
                  <a:pt x="2499347" y="0"/>
                </a:lnTo>
                <a:lnTo>
                  <a:pt x="2499347" y="3138450"/>
                </a:lnTo>
                <a:lnTo>
                  <a:pt x="0" y="3138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023917">
            <a:off x="-1777521" y="-557414"/>
            <a:ext cx="8476103" cy="3072587"/>
          </a:xfrm>
          <a:custGeom>
            <a:avLst/>
            <a:gdLst/>
            <a:ahLst/>
            <a:cxnLst/>
            <a:rect r="r" b="b" t="t" l="l"/>
            <a:pathLst>
              <a:path h="3072587" w="8476103">
                <a:moveTo>
                  <a:pt x="0" y="0"/>
                </a:moveTo>
                <a:lnTo>
                  <a:pt x="8476103" y="0"/>
                </a:lnTo>
                <a:lnTo>
                  <a:pt x="8476103" y="3072587"/>
                </a:lnTo>
                <a:lnTo>
                  <a:pt x="0" y="30725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400173">
            <a:off x="-154294" y="-4535750"/>
            <a:ext cx="4165325" cy="9148467"/>
          </a:xfrm>
          <a:custGeom>
            <a:avLst/>
            <a:gdLst/>
            <a:ahLst/>
            <a:cxnLst/>
            <a:rect r="r" b="b" t="t" l="l"/>
            <a:pathLst>
              <a:path h="9148467" w="4165325">
                <a:moveTo>
                  <a:pt x="0" y="0"/>
                </a:moveTo>
                <a:lnTo>
                  <a:pt x="4165325" y="0"/>
                </a:lnTo>
                <a:lnTo>
                  <a:pt x="4165325" y="9148467"/>
                </a:lnTo>
                <a:lnTo>
                  <a:pt x="0" y="91484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997247" y="2824743"/>
            <a:ext cx="2652650" cy="1194532"/>
            <a:chOff x="0" y="0"/>
            <a:chExt cx="812800" cy="3660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366017"/>
            </a:xfrm>
            <a:custGeom>
              <a:avLst/>
              <a:gdLst/>
              <a:ahLst/>
              <a:cxnLst/>
              <a:rect r="r" b="b" t="t" l="l"/>
              <a:pathLst>
                <a:path h="366017" w="812800">
                  <a:moveTo>
                    <a:pt x="148847" y="0"/>
                  </a:moveTo>
                  <a:lnTo>
                    <a:pt x="663953" y="0"/>
                  </a:lnTo>
                  <a:cubicBezTo>
                    <a:pt x="703430" y="0"/>
                    <a:pt x="741290" y="15682"/>
                    <a:pt x="769204" y="43596"/>
                  </a:cubicBezTo>
                  <a:cubicBezTo>
                    <a:pt x="797118" y="71510"/>
                    <a:pt x="812800" y="109370"/>
                    <a:pt x="812800" y="148847"/>
                  </a:cubicBezTo>
                  <a:lnTo>
                    <a:pt x="812800" y="217170"/>
                  </a:lnTo>
                  <a:cubicBezTo>
                    <a:pt x="812800" y="299376"/>
                    <a:pt x="746159" y="366017"/>
                    <a:pt x="663953" y="366017"/>
                  </a:cubicBezTo>
                  <a:lnTo>
                    <a:pt x="148847" y="366017"/>
                  </a:lnTo>
                  <a:cubicBezTo>
                    <a:pt x="109370" y="366017"/>
                    <a:pt x="71510" y="350335"/>
                    <a:pt x="43596" y="322421"/>
                  </a:cubicBezTo>
                  <a:cubicBezTo>
                    <a:pt x="15682" y="294507"/>
                    <a:pt x="0" y="256647"/>
                    <a:pt x="0" y="217170"/>
                  </a:cubicBezTo>
                  <a:lnTo>
                    <a:pt x="0" y="148847"/>
                  </a:lnTo>
                  <a:cubicBezTo>
                    <a:pt x="0" y="109370"/>
                    <a:pt x="15682" y="71510"/>
                    <a:pt x="43596" y="43596"/>
                  </a:cubicBezTo>
                  <a:cubicBezTo>
                    <a:pt x="71510" y="15682"/>
                    <a:pt x="109370" y="0"/>
                    <a:pt x="148847" y="0"/>
                  </a:cubicBezTo>
                  <a:close/>
                </a:path>
              </a:pathLst>
            </a:custGeom>
            <a:solidFill>
              <a:srgbClr val="FFD69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812800" cy="423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4"/>
                </a:lnSpc>
              </a:pPr>
              <a:r>
                <a:rPr lang="en-US" b="true" sz="2524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Interfaz Web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9323572" y="4019274"/>
            <a:ext cx="0" cy="34734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7997247" y="6043623"/>
            <a:ext cx="2652650" cy="1194532"/>
            <a:chOff x="0" y="0"/>
            <a:chExt cx="812800" cy="3660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366017"/>
            </a:xfrm>
            <a:custGeom>
              <a:avLst/>
              <a:gdLst/>
              <a:ahLst/>
              <a:cxnLst/>
              <a:rect r="r" b="b" t="t" l="l"/>
              <a:pathLst>
                <a:path h="366017" w="812800">
                  <a:moveTo>
                    <a:pt x="148847" y="0"/>
                  </a:moveTo>
                  <a:lnTo>
                    <a:pt x="663953" y="0"/>
                  </a:lnTo>
                  <a:cubicBezTo>
                    <a:pt x="703430" y="0"/>
                    <a:pt x="741290" y="15682"/>
                    <a:pt x="769204" y="43596"/>
                  </a:cubicBezTo>
                  <a:cubicBezTo>
                    <a:pt x="797118" y="71510"/>
                    <a:pt x="812800" y="109370"/>
                    <a:pt x="812800" y="148847"/>
                  </a:cubicBezTo>
                  <a:lnTo>
                    <a:pt x="812800" y="217170"/>
                  </a:lnTo>
                  <a:cubicBezTo>
                    <a:pt x="812800" y="299376"/>
                    <a:pt x="746159" y="366017"/>
                    <a:pt x="663953" y="366017"/>
                  </a:cubicBezTo>
                  <a:lnTo>
                    <a:pt x="148847" y="366017"/>
                  </a:lnTo>
                  <a:cubicBezTo>
                    <a:pt x="109370" y="366017"/>
                    <a:pt x="71510" y="350335"/>
                    <a:pt x="43596" y="322421"/>
                  </a:cubicBezTo>
                  <a:cubicBezTo>
                    <a:pt x="15682" y="294507"/>
                    <a:pt x="0" y="256647"/>
                    <a:pt x="0" y="217170"/>
                  </a:cubicBezTo>
                  <a:lnTo>
                    <a:pt x="0" y="148847"/>
                  </a:lnTo>
                  <a:cubicBezTo>
                    <a:pt x="0" y="109370"/>
                    <a:pt x="15682" y="71510"/>
                    <a:pt x="43596" y="43596"/>
                  </a:cubicBezTo>
                  <a:cubicBezTo>
                    <a:pt x="71510" y="15682"/>
                    <a:pt x="109370" y="0"/>
                    <a:pt x="148847" y="0"/>
                  </a:cubicBezTo>
                  <a:close/>
                </a:path>
              </a:pathLst>
            </a:custGeom>
            <a:solidFill>
              <a:srgbClr val="FFD69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12800" cy="423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4"/>
                </a:lnSpc>
              </a:pPr>
              <a:r>
                <a:rPr lang="en-US" b="true" sz="2524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SQLite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97247" y="4371324"/>
            <a:ext cx="2652650" cy="1194532"/>
            <a:chOff x="0" y="0"/>
            <a:chExt cx="812800" cy="3660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366017"/>
            </a:xfrm>
            <a:custGeom>
              <a:avLst/>
              <a:gdLst/>
              <a:ahLst/>
              <a:cxnLst/>
              <a:rect r="r" b="b" t="t" l="l"/>
              <a:pathLst>
                <a:path h="366017" w="812800">
                  <a:moveTo>
                    <a:pt x="148847" y="0"/>
                  </a:moveTo>
                  <a:lnTo>
                    <a:pt x="663953" y="0"/>
                  </a:lnTo>
                  <a:cubicBezTo>
                    <a:pt x="703430" y="0"/>
                    <a:pt x="741290" y="15682"/>
                    <a:pt x="769204" y="43596"/>
                  </a:cubicBezTo>
                  <a:cubicBezTo>
                    <a:pt x="797118" y="71510"/>
                    <a:pt x="812800" y="109370"/>
                    <a:pt x="812800" y="148847"/>
                  </a:cubicBezTo>
                  <a:lnTo>
                    <a:pt x="812800" y="217170"/>
                  </a:lnTo>
                  <a:cubicBezTo>
                    <a:pt x="812800" y="299376"/>
                    <a:pt x="746159" y="366017"/>
                    <a:pt x="663953" y="366017"/>
                  </a:cubicBezTo>
                  <a:lnTo>
                    <a:pt x="148847" y="366017"/>
                  </a:lnTo>
                  <a:cubicBezTo>
                    <a:pt x="109370" y="366017"/>
                    <a:pt x="71510" y="350335"/>
                    <a:pt x="43596" y="322421"/>
                  </a:cubicBezTo>
                  <a:cubicBezTo>
                    <a:pt x="15682" y="294507"/>
                    <a:pt x="0" y="256647"/>
                    <a:pt x="0" y="217170"/>
                  </a:cubicBezTo>
                  <a:lnTo>
                    <a:pt x="0" y="148847"/>
                  </a:lnTo>
                  <a:cubicBezTo>
                    <a:pt x="0" y="109370"/>
                    <a:pt x="15682" y="71510"/>
                    <a:pt x="43596" y="43596"/>
                  </a:cubicBezTo>
                  <a:cubicBezTo>
                    <a:pt x="71510" y="15682"/>
                    <a:pt x="109370" y="0"/>
                    <a:pt x="148847" y="0"/>
                  </a:cubicBezTo>
                  <a:close/>
                </a:path>
              </a:pathLst>
            </a:custGeom>
            <a:solidFill>
              <a:srgbClr val="FFD69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12800" cy="423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4"/>
                </a:lnSpc>
              </a:pPr>
              <a:r>
                <a:rPr lang="en-US" b="true" sz="2524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Web Flask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6245855" y="8079541"/>
            <a:ext cx="763397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11247562" y="7586141"/>
            <a:ext cx="2652650" cy="1194532"/>
            <a:chOff x="0" y="0"/>
            <a:chExt cx="812800" cy="36601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366017"/>
            </a:xfrm>
            <a:custGeom>
              <a:avLst/>
              <a:gdLst/>
              <a:ahLst/>
              <a:cxnLst/>
              <a:rect r="r" b="b" t="t" l="l"/>
              <a:pathLst>
                <a:path h="366017" w="812800">
                  <a:moveTo>
                    <a:pt x="148847" y="0"/>
                  </a:moveTo>
                  <a:lnTo>
                    <a:pt x="663953" y="0"/>
                  </a:lnTo>
                  <a:cubicBezTo>
                    <a:pt x="703430" y="0"/>
                    <a:pt x="741290" y="15682"/>
                    <a:pt x="769204" y="43596"/>
                  </a:cubicBezTo>
                  <a:cubicBezTo>
                    <a:pt x="797118" y="71510"/>
                    <a:pt x="812800" y="109370"/>
                    <a:pt x="812800" y="148847"/>
                  </a:cubicBezTo>
                  <a:lnTo>
                    <a:pt x="812800" y="217170"/>
                  </a:lnTo>
                  <a:cubicBezTo>
                    <a:pt x="812800" y="299376"/>
                    <a:pt x="746159" y="366017"/>
                    <a:pt x="663953" y="366017"/>
                  </a:cubicBezTo>
                  <a:lnTo>
                    <a:pt x="148847" y="366017"/>
                  </a:lnTo>
                  <a:cubicBezTo>
                    <a:pt x="109370" y="366017"/>
                    <a:pt x="71510" y="350335"/>
                    <a:pt x="43596" y="322421"/>
                  </a:cubicBezTo>
                  <a:cubicBezTo>
                    <a:pt x="15682" y="294507"/>
                    <a:pt x="0" y="256647"/>
                    <a:pt x="0" y="217170"/>
                  </a:cubicBezTo>
                  <a:lnTo>
                    <a:pt x="0" y="148847"/>
                  </a:lnTo>
                  <a:cubicBezTo>
                    <a:pt x="0" y="109370"/>
                    <a:pt x="15682" y="71510"/>
                    <a:pt x="43596" y="43596"/>
                  </a:cubicBezTo>
                  <a:cubicBezTo>
                    <a:pt x="71510" y="15682"/>
                    <a:pt x="109370" y="0"/>
                    <a:pt x="148847" y="0"/>
                  </a:cubicBezTo>
                  <a:close/>
                </a:path>
              </a:pathLst>
            </a:custGeom>
            <a:solidFill>
              <a:srgbClr val="FFD69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812800" cy="423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4"/>
                </a:lnSpc>
              </a:pPr>
              <a:r>
                <a:rPr lang="en-US" b="true" sz="2524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Clase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745979" y="7586141"/>
            <a:ext cx="2652650" cy="1194532"/>
            <a:chOff x="0" y="0"/>
            <a:chExt cx="812800" cy="3660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366017"/>
            </a:xfrm>
            <a:custGeom>
              <a:avLst/>
              <a:gdLst/>
              <a:ahLst/>
              <a:cxnLst/>
              <a:rect r="r" b="b" t="t" l="l"/>
              <a:pathLst>
                <a:path h="366017" w="812800">
                  <a:moveTo>
                    <a:pt x="148847" y="0"/>
                  </a:moveTo>
                  <a:lnTo>
                    <a:pt x="663953" y="0"/>
                  </a:lnTo>
                  <a:cubicBezTo>
                    <a:pt x="703430" y="0"/>
                    <a:pt x="741290" y="15682"/>
                    <a:pt x="769204" y="43596"/>
                  </a:cubicBezTo>
                  <a:cubicBezTo>
                    <a:pt x="797118" y="71510"/>
                    <a:pt x="812800" y="109370"/>
                    <a:pt x="812800" y="148847"/>
                  </a:cubicBezTo>
                  <a:lnTo>
                    <a:pt x="812800" y="217170"/>
                  </a:lnTo>
                  <a:cubicBezTo>
                    <a:pt x="812800" y="299376"/>
                    <a:pt x="746159" y="366017"/>
                    <a:pt x="663953" y="366017"/>
                  </a:cubicBezTo>
                  <a:lnTo>
                    <a:pt x="148847" y="366017"/>
                  </a:lnTo>
                  <a:cubicBezTo>
                    <a:pt x="109370" y="366017"/>
                    <a:pt x="71510" y="350335"/>
                    <a:pt x="43596" y="322421"/>
                  </a:cubicBezTo>
                  <a:cubicBezTo>
                    <a:pt x="15682" y="294507"/>
                    <a:pt x="0" y="256647"/>
                    <a:pt x="0" y="217170"/>
                  </a:cubicBezTo>
                  <a:lnTo>
                    <a:pt x="0" y="148847"/>
                  </a:lnTo>
                  <a:cubicBezTo>
                    <a:pt x="0" y="109370"/>
                    <a:pt x="15682" y="71510"/>
                    <a:pt x="43596" y="43596"/>
                  </a:cubicBezTo>
                  <a:cubicBezTo>
                    <a:pt x="71510" y="15682"/>
                    <a:pt x="109370" y="0"/>
                    <a:pt x="148847" y="0"/>
                  </a:cubicBezTo>
                  <a:close/>
                </a:path>
              </a:pathLst>
            </a:custGeom>
            <a:solidFill>
              <a:srgbClr val="FFD69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812800" cy="423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4"/>
                </a:lnSpc>
              </a:pPr>
              <a:r>
                <a:rPr lang="en-US" b="true" sz="2524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Alumno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997247" y="7586141"/>
            <a:ext cx="2652650" cy="1194532"/>
            <a:chOff x="0" y="0"/>
            <a:chExt cx="812800" cy="36601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366017"/>
            </a:xfrm>
            <a:custGeom>
              <a:avLst/>
              <a:gdLst/>
              <a:ahLst/>
              <a:cxnLst/>
              <a:rect r="r" b="b" t="t" l="l"/>
              <a:pathLst>
                <a:path h="366017" w="812800">
                  <a:moveTo>
                    <a:pt x="148847" y="0"/>
                  </a:moveTo>
                  <a:lnTo>
                    <a:pt x="663953" y="0"/>
                  </a:lnTo>
                  <a:cubicBezTo>
                    <a:pt x="703430" y="0"/>
                    <a:pt x="741290" y="15682"/>
                    <a:pt x="769204" y="43596"/>
                  </a:cubicBezTo>
                  <a:cubicBezTo>
                    <a:pt x="797118" y="71510"/>
                    <a:pt x="812800" y="109370"/>
                    <a:pt x="812800" y="148847"/>
                  </a:cubicBezTo>
                  <a:lnTo>
                    <a:pt x="812800" y="217170"/>
                  </a:lnTo>
                  <a:cubicBezTo>
                    <a:pt x="812800" y="299376"/>
                    <a:pt x="746159" y="366017"/>
                    <a:pt x="663953" y="366017"/>
                  </a:cubicBezTo>
                  <a:lnTo>
                    <a:pt x="148847" y="366017"/>
                  </a:lnTo>
                  <a:cubicBezTo>
                    <a:pt x="109370" y="366017"/>
                    <a:pt x="71510" y="350335"/>
                    <a:pt x="43596" y="322421"/>
                  </a:cubicBezTo>
                  <a:cubicBezTo>
                    <a:pt x="15682" y="294507"/>
                    <a:pt x="0" y="256647"/>
                    <a:pt x="0" y="217170"/>
                  </a:cubicBezTo>
                  <a:lnTo>
                    <a:pt x="0" y="148847"/>
                  </a:lnTo>
                  <a:cubicBezTo>
                    <a:pt x="0" y="109370"/>
                    <a:pt x="15682" y="71510"/>
                    <a:pt x="43596" y="43596"/>
                  </a:cubicBezTo>
                  <a:cubicBezTo>
                    <a:pt x="71510" y="15682"/>
                    <a:pt x="109370" y="0"/>
                    <a:pt x="148847" y="0"/>
                  </a:cubicBezTo>
                  <a:close/>
                </a:path>
              </a:pathLst>
            </a:custGeom>
            <a:solidFill>
              <a:srgbClr val="FFD69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812800" cy="423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4"/>
                </a:lnSpc>
              </a:pPr>
              <a:r>
                <a:rPr lang="en-US" b="true" sz="2524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Asistencia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64071" y="2610039"/>
            <a:ext cx="6997695" cy="4812619"/>
            <a:chOff x="0" y="0"/>
            <a:chExt cx="923309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59354" y="3581400"/>
              <a:ext cx="8420681" cy="185420"/>
            </a:xfrm>
            <a:custGeom>
              <a:avLst/>
              <a:gdLst/>
              <a:ahLst/>
              <a:cxnLst/>
              <a:rect r="r" b="b" t="t" l="l"/>
              <a:pathLst>
                <a:path h="185420" w="8420681">
                  <a:moveTo>
                    <a:pt x="2926" y="182880"/>
                  </a:moveTo>
                  <a:cubicBezTo>
                    <a:pt x="-7234" y="149860"/>
                    <a:pt x="10546" y="132080"/>
                    <a:pt x="33406" y="125730"/>
                  </a:cubicBezTo>
                  <a:cubicBezTo>
                    <a:pt x="93096" y="110490"/>
                    <a:pt x="154056" y="97790"/>
                    <a:pt x="215016" y="88900"/>
                  </a:cubicBezTo>
                  <a:cubicBezTo>
                    <a:pt x="249306" y="83820"/>
                    <a:pt x="284866" y="86360"/>
                    <a:pt x="319156" y="83820"/>
                  </a:cubicBezTo>
                  <a:cubicBezTo>
                    <a:pt x="402976" y="77470"/>
                    <a:pt x="488066" y="69850"/>
                    <a:pt x="571886" y="64770"/>
                  </a:cubicBezTo>
                  <a:cubicBezTo>
                    <a:pt x="701426" y="55880"/>
                    <a:pt x="832236" y="49530"/>
                    <a:pt x="961776" y="41910"/>
                  </a:cubicBezTo>
                  <a:cubicBezTo>
                    <a:pt x="1091316" y="35560"/>
                    <a:pt x="1222126" y="29210"/>
                    <a:pt x="1351666" y="24130"/>
                  </a:cubicBezTo>
                  <a:cubicBezTo>
                    <a:pt x="1483746" y="19050"/>
                    <a:pt x="1615826" y="15240"/>
                    <a:pt x="1749176" y="11430"/>
                  </a:cubicBezTo>
                  <a:cubicBezTo>
                    <a:pt x="1881256" y="7620"/>
                    <a:pt x="2014606" y="5080"/>
                    <a:pt x="2146686" y="2540"/>
                  </a:cubicBezTo>
                  <a:cubicBezTo>
                    <a:pt x="2283846" y="0"/>
                    <a:pt x="2421006" y="0"/>
                    <a:pt x="3590717" y="0"/>
                  </a:cubicBezTo>
                  <a:cubicBezTo>
                    <a:pt x="5176130" y="0"/>
                    <a:pt x="5715581" y="1270"/>
                    <a:pt x="5852741" y="3810"/>
                  </a:cubicBezTo>
                  <a:cubicBezTo>
                    <a:pt x="5992441" y="6350"/>
                    <a:pt x="6132141" y="8890"/>
                    <a:pt x="6271841" y="12700"/>
                  </a:cubicBezTo>
                  <a:cubicBezTo>
                    <a:pt x="6412810" y="16510"/>
                    <a:pt x="6553781" y="20320"/>
                    <a:pt x="6693481" y="25400"/>
                  </a:cubicBezTo>
                  <a:cubicBezTo>
                    <a:pt x="6834450" y="30480"/>
                    <a:pt x="6974150" y="36830"/>
                    <a:pt x="7115120" y="41910"/>
                  </a:cubicBezTo>
                  <a:cubicBezTo>
                    <a:pt x="7251010" y="48260"/>
                    <a:pt x="7386900" y="53340"/>
                    <a:pt x="7522791" y="59690"/>
                  </a:cubicBezTo>
                  <a:cubicBezTo>
                    <a:pt x="7659950" y="66040"/>
                    <a:pt x="7797110" y="71120"/>
                    <a:pt x="7934270" y="80010"/>
                  </a:cubicBezTo>
                  <a:cubicBezTo>
                    <a:pt x="8086670" y="88900"/>
                    <a:pt x="8237800" y="101600"/>
                    <a:pt x="8390200" y="114300"/>
                  </a:cubicBezTo>
                  <a:cubicBezTo>
                    <a:pt x="8400360" y="115570"/>
                    <a:pt x="8410520" y="120650"/>
                    <a:pt x="8420681" y="123190"/>
                  </a:cubicBezTo>
                  <a:cubicBezTo>
                    <a:pt x="8420681" y="127000"/>
                    <a:pt x="8419410" y="130810"/>
                    <a:pt x="8419410" y="134620"/>
                  </a:cubicBezTo>
                  <a:cubicBezTo>
                    <a:pt x="8380041" y="139700"/>
                    <a:pt x="8340670" y="144780"/>
                    <a:pt x="8300031" y="148590"/>
                  </a:cubicBezTo>
                  <a:cubicBezTo>
                    <a:pt x="8256850" y="152400"/>
                    <a:pt x="8213670" y="154940"/>
                    <a:pt x="8170491" y="154940"/>
                  </a:cubicBezTo>
                  <a:cubicBezTo>
                    <a:pt x="8009200" y="156210"/>
                    <a:pt x="7846641" y="156210"/>
                    <a:pt x="7685350" y="154940"/>
                  </a:cubicBezTo>
                  <a:cubicBezTo>
                    <a:pt x="7546920" y="153670"/>
                    <a:pt x="7408491" y="149860"/>
                    <a:pt x="7270060" y="147320"/>
                  </a:cubicBezTo>
                  <a:cubicBezTo>
                    <a:pt x="7129091" y="144780"/>
                    <a:pt x="6988120" y="140970"/>
                    <a:pt x="6848420" y="137160"/>
                  </a:cubicBezTo>
                  <a:cubicBezTo>
                    <a:pt x="6709991" y="133350"/>
                    <a:pt x="6571560" y="129540"/>
                    <a:pt x="6433131" y="125730"/>
                  </a:cubicBezTo>
                  <a:cubicBezTo>
                    <a:pt x="6292160" y="121920"/>
                    <a:pt x="6151191" y="119380"/>
                    <a:pt x="6011491" y="118110"/>
                  </a:cubicBezTo>
                  <a:cubicBezTo>
                    <a:pt x="5875601" y="115570"/>
                    <a:pt x="5739711" y="113030"/>
                    <a:pt x="5469724" y="113030"/>
                  </a:cubicBezTo>
                  <a:cubicBezTo>
                    <a:pt x="3869631" y="111760"/>
                    <a:pt x="2443866" y="113030"/>
                    <a:pt x="2305436" y="114300"/>
                  </a:cubicBezTo>
                  <a:cubicBezTo>
                    <a:pt x="2177166" y="115570"/>
                    <a:pt x="2047626" y="118110"/>
                    <a:pt x="1919356" y="120650"/>
                  </a:cubicBezTo>
                  <a:cubicBezTo>
                    <a:pt x="1783466" y="123190"/>
                    <a:pt x="1647576" y="128270"/>
                    <a:pt x="1511686" y="132080"/>
                  </a:cubicBezTo>
                  <a:cubicBezTo>
                    <a:pt x="1380876" y="135890"/>
                    <a:pt x="1248796" y="140970"/>
                    <a:pt x="1117986" y="146050"/>
                  </a:cubicBezTo>
                  <a:cubicBezTo>
                    <a:pt x="988446" y="151130"/>
                    <a:pt x="857636" y="157480"/>
                    <a:pt x="728096" y="162560"/>
                  </a:cubicBezTo>
                  <a:cubicBezTo>
                    <a:pt x="596016" y="167640"/>
                    <a:pt x="463936" y="172720"/>
                    <a:pt x="330586" y="177800"/>
                  </a:cubicBezTo>
                  <a:cubicBezTo>
                    <a:pt x="235336" y="181610"/>
                    <a:pt x="141356" y="184150"/>
                    <a:pt x="46106" y="185420"/>
                  </a:cubicBezTo>
                  <a:cubicBezTo>
                    <a:pt x="32136" y="185420"/>
                    <a:pt x="16896" y="184150"/>
                    <a:pt x="2926" y="1828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280678" y="4179882"/>
            <a:ext cx="10072073" cy="1337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65"/>
              </a:lnSpc>
              <a:spcBef>
                <a:spcPct val="0"/>
              </a:spcBef>
            </a:pPr>
            <a:r>
              <a:rPr lang="en-US" b="true" sz="9865" spc="-197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Demo versión inicial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3944881">
            <a:off x="-2937918" y="-218883"/>
            <a:ext cx="12555161" cy="4551246"/>
          </a:xfrm>
          <a:custGeom>
            <a:avLst/>
            <a:gdLst/>
            <a:ahLst/>
            <a:cxnLst/>
            <a:rect r="r" b="b" t="t" l="l"/>
            <a:pathLst>
              <a:path h="4551246" w="12555161">
                <a:moveTo>
                  <a:pt x="0" y="0"/>
                </a:moveTo>
                <a:lnTo>
                  <a:pt x="12555162" y="0"/>
                </a:lnTo>
                <a:lnTo>
                  <a:pt x="12555162" y="4551246"/>
                </a:lnTo>
                <a:lnTo>
                  <a:pt x="0" y="4551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63636">
            <a:off x="-1384912" y="-2864341"/>
            <a:ext cx="5288897" cy="11616212"/>
          </a:xfrm>
          <a:custGeom>
            <a:avLst/>
            <a:gdLst/>
            <a:ahLst/>
            <a:cxnLst/>
            <a:rect r="r" b="b" t="t" l="l"/>
            <a:pathLst>
              <a:path h="11616212" w="5288897">
                <a:moveTo>
                  <a:pt x="0" y="0"/>
                </a:moveTo>
                <a:lnTo>
                  <a:pt x="5288896" y="0"/>
                </a:lnTo>
                <a:lnTo>
                  <a:pt x="5288896" y="11616213"/>
                </a:lnTo>
                <a:lnTo>
                  <a:pt x="0" y="116162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2245192">
            <a:off x="-3393485" y="6458055"/>
            <a:ext cx="12370040" cy="5597443"/>
          </a:xfrm>
          <a:custGeom>
            <a:avLst/>
            <a:gdLst/>
            <a:ahLst/>
            <a:cxnLst/>
            <a:rect r="r" b="b" t="t" l="l"/>
            <a:pathLst>
              <a:path h="5597443" w="12370040">
                <a:moveTo>
                  <a:pt x="12370040" y="0"/>
                </a:moveTo>
                <a:lnTo>
                  <a:pt x="0" y="0"/>
                </a:lnTo>
                <a:lnTo>
                  <a:pt x="0" y="5597443"/>
                </a:lnTo>
                <a:lnTo>
                  <a:pt x="12370040" y="5597443"/>
                </a:lnTo>
                <a:lnTo>
                  <a:pt x="1237004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642643">
            <a:off x="-1613929" y="7371979"/>
            <a:ext cx="6054753" cy="2036599"/>
          </a:xfrm>
          <a:custGeom>
            <a:avLst/>
            <a:gdLst/>
            <a:ahLst/>
            <a:cxnLst/>
            <a:rect r="r" b="b" t="t" l="l"/>
            <a:pathLst>
              <a:path h="2036599" w="6054753">
                <a:moveTo>
                  <a:pt x="0" y="0"/>
                </a:moveTo>
                <a:lnTo>
                  <a:pt x="6054754" y="0"/>
                </a:lnTo>
                <a:lnTo>
                  <a:pt x="6054754" y="2036599"/>
                </a:lnTo>
                <a:lnTo>
                  <a:pt x="0" y="20365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68509" y="4135252"/>
            <a:ext cx="8780206" cy="184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76"/>
              </a:lnSpc>
              <a:spcBef>
                <a:spcPct val="0"/>
              </a:spcBef>
            </a:pPr>
            <a:r>
              <a:rPr lang="en-US" b="true" sz="13776" spc="-275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Muchas gracias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8173740">
            <a:off x="11397854" y="-641369"/>
            <a:ext cx="10568146" cy="4782086"/>
          </a:xfrm>
          <a:custGeom>
            <a:avLst/>
            <a:gdLst/>
            <a:ahLst/>
            <a:cxnLst/>
            <a:rect r="r" b="b" t="t" l="l"/>
            <a:pathLst>
              <a:path h="4782086" w="10568146">
                <a:moveTo>
                  <a:pt x="0" y="0"/>
                </a:moveTo>
                <a:lnTo>
                  <a:pt x="10568146" y="0"/>
                </a:lnTo>
                <a:lnTo>
                  <a:pt x="10568146" y="4782086"/>
                </a:lnTo>
                <a:lnTo>
                  <a:pt x="0" y="47820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84930">
            <a:off x="11718132" y="5835385"/>
            <a:ext cx="6766225" cy="7023934"/>
          </a:xfrm>
          <a:custGeom>
            <a:avLst/>
            <a:gdLst/>
            <a:ahLst/>
            <a:cxnLst/>
            <a:rect r="r" b="b" t="t" l="l"/>
            <a:pathLst>
              <a:path h="7023934" w="6766225">
                <a:moveTo>
                  <a:pt x="0" y="0"/>
                </a:moveTo>
                <a:lnTo>
                  <a:pt x="6766225" y="0"/>
                </a:lnTo>
                <a:lnTo>
                  <a:pt x="6766225" y="7023934"/>
                </a:lnTo>
                <a:lnTo>
                  <a:pt x="0" y="7023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28266" y="643605"/>
            <a:ext cx="2928918" cy="3677865"/>
          </a:xfrm>
          <a:custGeom>
            <a:avLst/>
            <a:gdLst/>
            <a:ahLst/>
            <a:cxnLst/>
            <a:rect r="r" b="b" t="t" l="l"/>
            <a:pathLst>
              <a:path h="3677865" w="2928918">
                <a:moveTo>
                  <a:pt x="0" y="0"/>
                </a:moveTo>
                <a:lnTo>
                  <a:pt x="2928918" y="0"/>
                </a:lnTo>
                <a:lnTo>
                  <a:pt x="2928918" y="3677865"/>
                </a:lnTo>
                <a:lnTo>
                  <a:pt x="0" y="367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DAHXRb6r7U0</dc:identifier>
  <dcterms:modified xsi:type="dcterms:W3CDTF">2011-08-01T06:04:30Z</dcterms:modified>
  <cp:revision>1</cp:revision>
  <dc:title>Ev2 Capstone</dc:title>
</cp:coreProperties>
</file>